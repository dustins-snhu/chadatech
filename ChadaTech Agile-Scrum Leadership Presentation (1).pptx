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image" Target="../media/image-5-27.png"/><Relationship Id="rId28" Type="http://schemas.openxmlformats.org/officeDocument/2006/relationships/image" Target="../media/image-5-28.svg"/><Relationship Id="rId29" Type="http://schemas.openxmlformats.org/officeDocument/2006/relationships/image" Target="../media/image-5-29.png"/><Relationship Id="rId30" Type="http://schemas.openxmlformats.org/officeDocument/2006/relationships/image" Target="../media/image-5-30.svg"/><Relationship Id="rId31" Type="http://schemas.openxmlformats.org/officeDocument/2006/relationships/image" Target="../media/image-5-31.png"/><Relationship Id="rId32" Type="http://schemas.openxmlformats.org/officeDocument/2006/relationships/image" Target="../media/image-5-32.svg"/><Relationship Id="rId33" Type="http://schemas.openxmlformats.org/officeDocument/2006/relationships/image" Target="../media/image-5-33.png"/><Relationship Id="rId34" Type="http://schemas.openxmlformats.org/officeDocument/2006/relationships/image" Target="../media/image-5-34.sv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image" Target="../media/image-7-29.png"/><Relationship Id="rId30" Type="http://schemas.openxmlformats.org/officeDocument/2006/relationships/image" Target="../media/image-7-30.sv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image" Target="../media/image-9-29.png"/><Relationship Id="rId30" Type="http://schemas.openxmlformats.org/officeDocument/2006/relationships/image" Target="../media/image-9-30.svg"/><Relationship Id="rId31" Type="http://schemas.openxmlformats.org/officeDocument/2006/relationships/image" Target="../media/image-9-31.png"/><Relationship Id="rId32" Type="http://schemas.openxmlformats.org/officeDocument/2006/relationships/image" Target="../media/image-9-32.svg"/><Relationship Id="rId33" Type="http://schemas.openxmlformats.org/officeDocument/2006/relationships/image" Target="../media/image-9-33.png"/><Relationship Id="rId34" Type="http://schemas.openxmlformats.org/officeDocument/2006/relationships/image" Target="../media/image-9-34.svg"/><Relationship Id="rId35" Type="http://schemas.openxmlformats.org/officeDocument/2006/relationships/image" Target="../media/image-9-35.png"/><Relationship Id="rId36" Type="http://schemas.openxmlformats.org/officeDocument/2006/relationships/image" Target="../media/image-9-36.svg"/><Relationship Id="rId37" Type="http://schemas.openxmlformats.org/officeDocument/2006/relationships/image" Target="../media/image-9-37.png"/><Relationship Id="rId38" Type="http://schemas.openxmlformats.org/officeDocument/2006/relationships/image" Target="../media/image-9-38.svg"/><Relationship Id="rId39" Type="http://schemas.openxmlformats.org/officeDocument/2006/relationships/image" Target="../media/image-9-39.png"/><Relationship Id="rId40" Type="http://schemas.openxmlformats.org/officeDocument/2006/relationships/image" Target="../media/image-9-40.sv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D1B2A">
                  <a:alpha val="97000"/>
                </a:srgbClr>
              </a:gs>
              <a:gs pos="45000">
                <a:srgbClr val="0D1B2A">
                  <a:alpha val="88000"/>
                </a:srgbClr>
              </a:gs>
              <a:gs pos="100000">
                <a:srgbClr val="0D1B2A">
                  <a:alpha val="60000"/>
                </a:srgbClr>
              </a:gs>
            </a:gsLst>
            <a:lin ang="21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2720" y="571500"/>
            <a:ext cx="3000375" cy="3000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1FB8CD"/>
              </a:gs>
              <a:gs pos="60000">
                <a:srgbClr val="0E7FA8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71500" y="1165920"/>
            <a:ext cx="285750" cy="13841"/>
          </a:xfrm>
          <a:prstGeom prst="roundRect">
            <a:avLst>
              <a:gd name="adj" fmla="val 100932"/>
            </a:avLst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71500" y="1391543"/>
            <a:ext cx="5537835" cy="1654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36"/>
              </a:lnSpc>
              <a:spcAft>
                <a:spcPts val="450"/>
              </a:spcAft>
              <a:buNone/>
            </a:pPr>
            <a:r>
              <a:rPr lang="en-US" sz="383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Embracing </a:t>
            </a:r>
            <a:pPr algn="l" indent="0" marL="0">
              <a:lnSpc>
                <a:spcPts val="4136"/>
              </a:lnSpc>
              <a:spcAft>
                <a:spcPts val="450"/>
              </a:spcAft>
              <a:buNone/>
            </a:pPr>
            <a:r>
              <a:rPr lang="en-US" sz="38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Agile &amp; Scrum</a:t>
            </a:r>
            <a:br/>
            <a:pPr algn="l" indent="0" marL="0">
              <a:lnSpc>
                <a:spcPts val="4136"/>
              </a:lnSpc>
              <a:spcAft>
                <a:spcPts val="450"/>
              </a:spcAft>
              <a:buNone/>
            </a:pPr>
            <a:r>
              <a:rPr lang="en-US" sz="383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 ChadaTech</a:t>
            </a:r>
            <a:endParaRPr lang="en-US" sz="3830" dirty="0"/>
          </a:p>
        </p:txBody>
      </p:sp>
      <p:sp>
        <p:nvSpPr>
          <p:cNvPr id="8" name="Text 4"/>
          <p:cNvSpPr/>
          <p:nvPr/>
        </p:nvSpPr>
        <p:spPr>
          <a:xfrm>
            <a:off x="571500" y="3024336"/>
            <a:ext cx="5715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1FB8C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71500" y="3246537"/>
            <a:ext cx="4954905" cy="436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spcAft>
                <a:spcPts val="1580"/>
              </a:spcAft>
              <a:buNone/>
            </a:pPr>
            <a:r>
              <a:rPr lang="en-US" sz="113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Leadership Guide to the Scrum-Agile Approach</a:t>
            </a:r>
            <a:br/>
            <a:pPr algn="l" indent="0" marL="0">
              <a:lnSpc>
                <a:spcPts val="1639"/>
              </a:lnSpc>
              <a:spcAft>
                <a:spcPts val="1580"/>
              </a:spcAft>
              <a:buNone/>
            </a:pPr>
            <a:r>
              <a:rPr lang="en-US" sz="113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Modern Software Development</a:t>
            </a:r>
            <a:endParaRPr lang="en-US" sz="1130" dirty="0"/>
          </a:p>
        </p:txBody>
      </p:sp>
      <p:sp>
        <p:nvSpPr>
          <p:cNvPr id="10" name="Text 6"/>
          <p:cNvSpPr/>
          <p:nvPr/>
        </p:nvSpPr>
        <p:spPr>
          <a:xfrm>
            <a:off x="571500" y="3862983"/>
            <a:ext cx="114532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A8CF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Delivering Value</a:t>
            </a:r>
            <a:endParaRPr lang="en-US" sz="960" dirty="0"/>
          </a:p>
        </p:txBody>
      </p:sp>
      <p:sp>
        <p:nvSpPr>
          <p:cNvPr id="11" name="Text 7"/>
          <p:cNvSpPr/>
          <p:nvPr/>
        </p:nvSpPr>
        <p:spPr>
          <a:xfrm>
            <a:off x="1713012" y="3936653"/>
            <a:ext cx="35421" cy="35421"/>
          </a:xfrm>
          <a:prstGeom prst="ellipse">
            <a:avLst/>
          </a:prstGeom>
          <a:solidFill>
            <a:srgbClr val="1FB8CD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848743" y="3862983"/>
            <a:ext cx="132671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A8CF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Embracing Change</a:t>
            </a:r>
            <a:endParaRPr lang="en-US" sz="960" dirty="0"/>
          </a:p>
        </p:txBody>
      </p:sp>
      <p:sp>
        <p:nvSpPr>
          <p:cNvPr id="13" name="Text 9"/>
          <p:cNvSpPr/>
          <p:nvPr/>
        </p:nvSpPr>
        <p:spPr>
          <a:xfrm>
            <a:off x="3155156" y="3936653"/>
            <a:ext cx="35421" cy="35421"/>
          </a:xfrm>
          <a:prstGeom prst="ellipse">
            <a:avLst/>
          </a:prstGeom>
          <a:solidFill>
            <a:srgbClr val="1FB8CD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290888" y="3862983"/>
            <a:ext cx="135388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A8CF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Empowering Teams</a:t>
            </a:r>
            <a:endParaRPr lang="en-US" sz="960" dirty="0"/>
          </a:p>
        </p:txBody>
      </p:sp>
      <p:sp>
        <p:nvSpPr>
          <p:cNvPr id="15" name="Text 11"/>
          <p:cNvSpPr/>
          <p:nvPr/>
        </p:nvSpPr>
        <p:spPr>
          <a:xfrm>
            <a:off x="0" y="4743450"/>
            <a:ext cx="9144000" cy="400050"/>
          </a:xfrm>
          <a:prstGeom prst="rect">
            <a:avLst/>
          </a:prstGeom>
          <a:solidFill>
            <a:srgbClr val="0B1623">
              <a:alpha val="8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0" y="4743450"/>
            <a:ext cx="9144000" cy="9525"/>
          </a:xfrm>
          <a:prstGeom prst="rect">
            <a:avLst/>
          </a:prstGeom>
          <a:solidFill>
            <a:srgbClr val="1FB8CD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60512" y="4840635"/>
            <a:ext cx="91350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spc="6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</a:t>
            </a:r>
            <a:endParaRPr lang="en-US" sz="113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216" y="4881869"/>
            <a:ext cx="132588" cy="132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1579" y="4878735"/>
            <a:ext cx="234401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60" kern="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EXECUTIVE LEADERSHIP</a:t>
            </a:r>
            <a:endParaRPr lang="en-US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7966" y="4700588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80537" y="4700588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73108" y="4700588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5679" y="4700588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58250" y="4700588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87966" y="4793159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80537" y="4793159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73108" y="4793159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65679" y="4793159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58250" y="4793159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487966" y="4885730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80537" y="4885730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73108" y="4885730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765679" y="4885730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858250" y="4885730"/>
            <a:ext cx="29170" cy="29170"/>
          </a:xfrm>
          <a:prstGeom prst="ellipse">
            <a:avLst/>
          </a:prstGeom>
          <a:solidFill>
            <a:srgbClr val="0D96AA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29495" y="644277"/>
            <a:ext cx="29170" cy="585341"/>
          </a:xfrm>
          <a:custGeom>
            <a:avLst/>
            <a:gdLst/>
            <a:ahLst/>
            <a:cxnLst/>
            <a:rect l="l" t="t" r="r" b="b"/>
            <a:pathLst>
              <a:path w="29170" h="585341">
                <a:moveTo>
                  <a:pt x="0" y="71120"/>
                </a:moveTo>
                <a:lnTo>
                  <a:pt x="3646" y="48640"/>
                </a:lnTo>
                <a:lnTo>
                  <a:pt x="7293" y="39749"/>
                </a:lnTo>
                <a:lnTo>
                  <a:pt x="10939" y="33222"/>
                </a:lnTo>
                <a:lnTo>
                  <a:pt x="14585" y="27971"/>
                </a:lnTo>
                <a:lnTo>
                  <a:pt x="18231" y="23572"/>
                </a:lnTo>
                <a:lnTo>
                  <a:pt x="21878" y="19805"/>
                </a:lnTo>
                <a:lnTo>
                  <a:pt x="25524" y="16539"/>
                </a:lnTo>
                <a:lnTo>
                  <a:pt x="29170" y="13689"/>
                </a:lnTo>
                <a:lnTo>
                  <a:pt x="29170" y="571651"/>
                </a:lnTo>
                <a:lnTo>
                  <a:pt x="25524" y="568802"/>
                </a:lnTo>
                <a:lnTo>
                  <a:pt x="21878" y="565536"/>
                </a:lnTo>
                <a:lnTo>
                  <a:pt x="18231" y="561769"/>
                </a:lnTo>
                <a:lnTo>
                  <a:pt x="14585" y="557370"/>
                </a:lnTo>
                <a:lnTo>
                  <a:pt x="10939" y="552119"/>
                </a:lnTo>
                <a:lnTo>
                  <a:pt x="7293" y="545591"/>
                </a:lnTo>
                <a:lnTo>
                  <a:pt x="3646" y="536701"/>
                </a:lnTo>
                <a:lnTo>
                  <a:pt x="0" y="514221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29495" y="1286768"/>
            <a:ext cx="29170" cy="585341"/>
          </a:xfrm>
          <a:custGeom>
            <a:avLst/>
            <a:gdLst/>
            <a:ahLst/>
            <a:cxnLst/>
            <a:rect l="l" t="t" r="r" b="b"/>
            <a:pathLst>
              <a:path w="29170" h="585341">
                <a:moveTo>
                  <a:pt x="0" y="71120"/>
                </a:moveTo>
                <a:lnTo>
                  <a:pt x="3646" y="48640"/>
                </a:lnTo>
                <a:lnTo>
                  <a:pt x="7293" y="39749"/>
                </a:lnTo>
                <a:lnTo>
                  <a:pt x="10939" y="33222"/>
                </a:lnTo>
                <a:lnTo>
                  <a:pt x="14585" y="27971"/>
                </a:lnTo>
                <a:lnTo>
                  <a:pt x="18231" y="23572"/>
                </a:lnTo>
                <a:lnTo>
                  <a:pt x="21878" y="19805"/>
                </a:lnTo>
                <a:lnTo>
                  <a:pt x="25524" y="16539"/>
                </a:lnTo>
                <a:lnTo>
                  <a:pt x="29170" y="13689"/>
                </a:lnTo>
                <a:lnTo>
                  <a:pt x="29170" y="571651"/>
                </a:lnTo>
                <a:lnTo>
                  <a:pt x="25524" y="568802"/>
                </a:lnTo>
                <a:lnTo>
                  <a:pt x="21878" y="565536"/>
                </a:lnTo>
                <a:lnTo>
                  <a:pt x="18231" y="561769"/>
                </a:lnTo>
                <a:lnTo>
                  <a:pt x="14585" y="557370"/>
                </a:lnTo>
                <a:lnTo>
                  <a:pt x="10939" y="552119"/>
                </a:lnTo>
                <a:lnTo>
                  <a:pt x="7293" y="545591"/>
                </a:lnTo>
                <a:lnTo>
                  <a:pt x="3646" y="536701"/>
                </a:lnTo>
                <a:lnTo>
                  <a:pt x="0" y="514221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29495" y="1929259"/>
            <a:ext cx="29170" cy="585341"/>
          </a:xfrm>
          <a:custGeom>
            <a:avLst/>
            <a:gdLst/>
            <a:ahLst/>
            <a:cxnLst/>
            <a:rect l="l" t="t" r="r" b="b"/>
            <a:pathLst>
              <a:path w="29170" h="585341">
                <a:moveTo>
                  <a:pt x="0" y="71120"/>
                </a:moveTo>
                <a:lnTo>
                  <a:pt x="3646" y="48640"/>
                </a:lnTo>
                <a:lnTo>
                  <a:pt x="7293" y="39749"/>
                </a:lnTo>
                <a:lnTo>
                  <a:pt x="10939" y="33222"/>
                </a:lnTo>
                <a:lnTo>
                  <a:pt x="14585" y="27971"/>
                </a:lnTo>
                <a:lnTo>
                  <a:pt x="18231" y="23572"/>
                </a:lnTo>
                <a:lnTo>
                  <a:pt x="21878" y="19805"/>
                </a:lnTo>
                <a:lnTo>
                  <a:pt x="25524" y="16539"/>
                </a:lnTo>
                <a:lnTo>
                  <a:pt x="29170" y="13689"/>
                </a:lnTo>
                <a:lnTo>
                  <a:pt x="29170" y="571651"/>
                </a:lnTo>
                <a:lnTo>
                  <a:pt x="25524" y="568802"/>
                </a:lnTo>
                <a:lnTo>
                  <a:pt x="21878" y="565536"/>
                </a:lnTo>
                <a:lnTo>
                  <a:pt x="18231" y="561769"/>
                </a:lnTo>
                <a:lnTo>
                  <a:pt x="14585" y="557370"/>
                </a:lnTo>
                <a:lnTo>
                  <a:pt x="10939" y="552119"/>
                </a:lnTo>
                <a:lnTo>
                  <a:pt x="7293" y="545591"/>
                </a:lnTo>
                <a:lnTo>
                  <a:pt x="3646" y="536701"/>
                </a:lnTo>
                <a:lnTo>
                  <a:pt x="0" y="514221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29495" y="2571750"/>
            <a:ext cx="29170" cy="585341"/>
          </a:xfrm>
          <a:custGeom>
            <a:avLst/>
            <a:gdLst/>
            <a:ahLst/>
            <a:cxnLst/>
            <a:rect l="l" t="t" r="r" b="b"/>
            <a:pathLst>
              <a:path w="29170" h="585341">
                <a:moveTo>
                  <a:pt x="0" y="71120"/>
                </a:moveTo>
                <a:lnTo>
                  <a:pt x="3646" y="48640"/>
                </a:lnTo>
                <a:lnTo>
                  <a:pt x="7293" y="39749"/>
                </a:lnTo>
                <a:lnTo>
                  <a:pt x="10939" y="33222"/>
                </a:lnTo>
                <a:lnTo>
                  <a:pt x="14585" y="27971"/>
                </a:lnTo>
                <a:lnTo>
                  <a:pt x="18231" y="23572"/>
                </a:lnTo>
                <a:lnTo>
                  <a:pt x="21878" y="19805"/>
                </a:lnTo>
                <a:lnTo>
                  <a:pt x="25524" y="16539"/>
                </a:lnTo>
                <a:lnTo>
                  <a:pt x="29170" y="13689"/>
                </a:lnTo>
                <a:lnTo>
                  <a:pt x="29170" y="571651"/>
                </a:lnTo>
                <a:lnTo>
                  <a:pt x="25524" y="568802"/>
                </a:lnTo>
                <a:lnTo>
                  <a:pt x="21878" y="565536"/>
                </a:lnTo>
                <a:lnTo>
                  <a:pt x="18231" y="561769"/>
                </a:lnTo>
                <a:lnTo>
                  <a:pt x="14585" y="557370"/>
                </a:lnTo>
                <a:lnTo>
                  <a:pt x="10939" y="552119"/>
                </a:lnTo>
                <a:lnTo>
                  <a:pt x="7293" y="545591"/>
                </a:lnTo>
                <a:lnTo>
                  <a:pt x="3646" y="536701"/>
                </a:lnTo>
                <a:lnTo>
                  <a:pt x="0" y="514221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29495" y="3214241"/>
            <a:ext cx="29170" cy="585341"/>
          </a:xfrm>
          <a:custGeom>
            <a:avLst/>
            <a:gdLst/>
            <a:ahLst/>
            <a:cxnLst/>
            <a:rect l="l" t="t" r="r" b="b"/>
            <a:pathLst>
              <a:path w="29170" h="585341">
                <a:moveTo>
                  <a:pt x="0" y="71120"/>
                </a:moveTo>
                <a:lnTo>
                  <a:pt x="3646" y="48640"/>
                </a:lnTo>
                <a:lnTo>
                  <a:pt x="7293" y="39749"/>
                </a:lnTo>
                <a:lnTo>
                  <a:pt x="10939" y="33222"/>
                </a:lnTo>
                <a:lnTo>
                  <a:pt x="14585" y="27971"/>
                </a:lnTo>
                <a:lnTo>
                  <a:pt x="18231" y="23572"/>
                </a:lnTo>
                <a:lnTo>
                  <a:pt x="21878" y="19805"/>
                </a:lnTo>
                <a:lnTo>
                  <a:pt x="25524" y="16539"/>
                </a:lnTo>
                <a:lnTo>
                  <a:pt x="29170" y="13689"/>
                </a:lnTo>
                <a:lnTo>
                  <a:pt x="29170" y="571651"/>
                </a:lnTo>
                <a:lnTo>
                  <a:pt x="25524" y="568802"/>
                </a:lnTo>
                <a:lnTo>
                  <a:pt x="21878" y="565536"/>
                </a:lnTo>
                <a:lnTo>
                  <a:pt x="18231" y="561769"/>
                </a:lnTo>
                <a:lnTo>
                  <a:pt x="14585" y="557370"/>
                </a:lnTo>
                <a:lnTo>
                  <a:pt x="10939" y="552119"/>
                </a:lnTo>
                <a:lnTo>
                  <a:pt x="7293" y="545591"/>
                </a:lnTo>
                <a:lnTo>
                  <a:pt x="3646" y="536701"/>
                </a:lnTo>
                <a:lnTo>
                  <a:pt x="0" y="514221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29495" y="3856732"/>
            <a:ext cx="29170" cy="585341"/>
          </a:xfrm>
          <a:custGeom>
            <a:avLst/>
            <a:gdLst/>
            <a:ahLst/>
            <a:cxnLst/>
            <a:rect l="l" t="t" r="r" b="b"/>
            <a:pathLst>
              <a:path w="29170" h="585341">
                <a:moveTo>
                  <a:pt x="0" y="71120"/>
                </a:moveTo>
                <a:lnTo>
                  <a:pt x="3646" y="48640"/>
                </a:lnTo>
                <a:lnTo>
                  <a:pt x="7293" y="39749"/>
                </a:lnTo>
                <a:lnTo>
                  <a:pt x="10939" y="33222"/>
                </a:lnTo>
                <a:lnTo>
                  <a:pt x="14585" y="27971"/>
                </a:lnTo>
                <a:lnTo>
                  <a:pt x="18231" y="23572"/>
                </a:lnTo>
                <a:lnTo>
                  <a:pt x="21878" y="19805"/>
                </a:lnTo>
                <a:lnTo>
                  <a:pt x="25524" y="16539"/>
                </a:lnTo>
                <a:lnTo>
                  <a:pt x="29170" y="13689"/>
                </a:lnTo>
                <a:lnTo>
                  <a:pt x="29170" y="571651"/>
                </a:lnTo>
                <a:lnTo>
                  <a:pt x="25524" y="568802"/>
                </a:lnTo>
                <a:lnTo>
                  <a:pt x="21878" y="565536"/>
                </a:lnTo>
                <a:lnTo>
                  <a:pt x="18231" y="561769"/>
                </a:lnTo>
                <a:lnTo>
                  <a:pt x="14585" y="557370"/>
                </a:lnTo>
                <a:lnTo>
                  <a:pt x="10939" y="552119"/>
                </a:lnTo>
                <a:lnTo>
                  <a:pt x="7293" y="545591"/>
                </a:lnTo>
                <a:lnTo>
                  <a:pt x="3646" y="536701"/>
                </a:lnTo>
                <a:lnTo>
                  <a:pt x="0" y="514221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600920" y="644277"/>
            <a:ext cx="6172200" cy="585341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970" dir="5400000">
              <a:srgbClr val="0d1b2a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86955" y="836563"/>
            <a:ext cx="305753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dirty="0">
                <a:solidFill>
                  <a:srgbClr val="1FB8CD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580" dirty="0"/>
          </a:p>
        </p:txBody>
      </p:sp>
      <p:sp>
        <p:nvSpPr>
          <p:cNvPr id="25" name="Text 23"/>
          <p:cNvSpPr/>
          <p:nvPr/>
        </p:nvSpPr>
        <p:spPr>
          <a:xfrm>
            <a:off x="3101876" y="772418"/>
            <a:ext cx="328910" cy="328910"/>
          </a:xfrm>
          <a:prstGeom prst="ellipse">
            <a:avLst/>
          </a:prstGeom>
          <a:solidFill>
            <a:srgbClr val="1FB8C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99962" y="870505"/>
            <a:ext cx="132588" cy="13258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558927" y="794742"/>
            <a:ext cx="536169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the Agile-Scrum Approach?</a:t>
            </a:r>
            <a:endParaRPr lang="en-US" sz="960" dirty="0"/>
          </a:p>
        </p:txBody>
      </p:sp>
      <p:sp>
        <p:nvSpPr>
          <p:cNvPr id="28" name="Text 25"/>
          <p:cNvSpPr/>
          <p:nvPr/>
        </p:nvSpPr>
        <p:spPr>
          <a:xfrm>
            <a:off x="3558927" y="954732"/>
            <a:ext cx="5361697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philosophy, values, and framework overview</a:t>
            </a:r>
            <a:endParaRPr lang="en-US" sz="7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1295" y="870579"/>
            <a:ext cx="132588" cy="1325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600920" y="1286768"/>
            <a:ext cx="6172200" cy="585341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970" dir="5400000">
              <a:srgbClr val="0d1b2a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2786955" y="1479054"/>
            <a:ext cx="305753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dirty="0">
                <a:solidFill>
                  <a:srgbClr val="1FB8CD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580" dirty="0"/>
          </a:p>
        </p:txBody>
      </p:sp>
      <p:sp>
        <p:nvSpPr>
          <p:cNvPr id="32" name="Text 28"/>
          <p:cNvSpPr/>
          <p:nvPr/>
        </p:nvSpPr>
        <p:spPr>
          <a:xfrm>
            <a:off x="3101876" y="1414909"/>
            <a:ext cx="328910" cy="328910"/>
          </a:xfrm>
          <a:prstGeom prst="ellipse">
            <a:avLst/>
          </a:prstGeom>
          <a:solidFill>
            <a:srgbClr val="1FB8C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9962" y="1512996"/>
            <a:ext cx="132588" cy="13258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558927" y="1437233"/>
            <a:ext cx="536169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Agile Roles &amp; Accountabilities</a:t>
            </a:r>
            <a:endParaRPr lang="en-US" sz="960" dirty="0"/>
          </a:p>
        </p:txBody>
      </p:sp>
      <p:sp>
        <p:nvSpPr>
          <p:cNvPr id="35" name="Text 30"/>
          <p:cNvSpPr/>
          <p:nvPr/>
        </p:nvSpPr>
        <p:spPr>
          <a:xfrm>
            <a:off x="3558927" y="1597223"/>
            <a:ext cx="5361697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Master, Product Owner, and Developers defined</a:t>
            </a:r>
            <a:endParaRPr lang="en-US" sz="7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alphaModFix amt="5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1295" y="1513070"/>
            <a:ext cx="132588" cy="13258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2600920" y="1929259"/>
            <a:ext cx="6172200" cy="585341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970" dir="5400000">
              <a:srgbClr val="0d1b2a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2786955" y="2121545"/>
            <a:ext cx="305753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dirty="0">
                <a:solidFill>
                  <a:srgbClr val="1FB8CD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580" dirty="0"/>
          </a:p>
        </p:txBody>
      </p:sp>
      <p:sp>
        <p:nvSpPr>
          <p:cNvPr id="39" name="Text 33"/>
          <p:cNvSpPr/>
          <p:nvPr/>
        </p:nvSpPr>
        <p:spPr>
          <a:xfrm>
            <a:off x="3101876" y="2057400"/>
            <a:ext cx="328910" cy="328910"/>
          </a:xfrm>
          <a:prstGeom prst="ellipse">
            <a:avLst/>
          </a:prstGeom>
          <a:solidFill>
            <a:srgbClr val="1FB8C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99962" y="2155487"/>
            <a:ext cx="132588" cy="1325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558927" y="2079724"/>
            <a:ext cx="536169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Agile SDLC Phases</a:t>
            </a:r>
            <a:endParaRPr lang="en-US" sz="960" dirty="0"/>
          </a:p>
        </p:txBody>
      </p:sp>
      <p:sp>
        <p:nvSpPr>
          <p:cNvPr id="42" name="Text 35"/>
          <p:cNvSpPr/>
          <p:nvPr/>
        </p:nvSpPr>
        <p:spPr>
          <a:xfrm>
            <a:off x="3558927" y="2239714"/>
            <a:ext cx="5361697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planning, execution, review, and retrospective cycle</a:t>
            </a:r>
            <a:endParaRPr lang="en-US" sz="7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alphaModFix amt="5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01295" y="2155561"/>
            <a:ext cx="132588" cy="13258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2600920" y="2571750"/>
            <a:ext cx="6172200" cy="585341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970" dir="5400000">
              <a:srgbClr val="0d1b2a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2786955" y="2764036"/>
            <a:ext cx="305753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dirty="0">
                <a:solidFill>
                  <a:srgbClr val="1FB8CD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580" dirty="0"/>
          </a:p>
        </p:txBody>
      </p:sp>
      <p:sp>
        <p:nvSpPr>
          <p:cNvPr id="46" name="Text 38"/>
          <p:cNvSpPr/>
          <p:nvPr/>
        </p:nvSpPr>
        <p:spPr>
          <a:xfrm>
            <a:off x="3101876" y="2699891"/>
            <a:ext cx="328910" cy="328910"/>
          </a:xfrm>
          <a:prstGeom prst="ellipse">
            <a:avLst/>
          </a:prstGeom>
          <a:solidFill>
            <a:srgbClr val="1FB8C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99962" y="2797978"/>
            <a:ext cx="132588" cy="13258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3558927" y="2722215"/>
            <a:ext cx="536169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Agile vs. Waterfall: A Comparison</a:t>
            </a:r>
            <a:endParaRPr lang="en-US" sz="960" dirty="0"/>
          </a:p>
        </p:txBody>
      </p:sp>
      <p:sp>
        <p:nvSpPr>
          <p:cNvPr id="49" name="Text 40"/>
          <p:cNvSpPr/>
          <p:nvPr/>
        </p:nvSpPr>
        <p:spPr>
          <a:xfrm>
            <a:off x="3558927" y="2882205"/>
            <a:ext cx="5361697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methodology analysis for strategic decision-making</a:t>
            </a:r>
            <a:endParaRPr lang="en-US" sz="700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15">
            <a:alphaModFix amt="50000"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01295" y="2798052"/>
            <a:ext cx="132588" cy="13258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2600920" y="3214241"/>
            <a:ext cx="6172200" cy="585341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970" dir="5400000">
              <a:srgbClr val="0d1b2a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2"/>
          <p:cNvSpPr/>
          <p:nvPr/>
        </p:nvSpPr>
        <p:spPr>
          <a:xfrm>
            <a:off x="2786955" y="3406527"/>
            <a:ext cx="305753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dirty="0">
                <a:solidFill>
                  <a:srgbClr val="1FB8CD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580" dirty="0"/>
          </a:p>
        </p:txBody>
      </p:sp>
      <p:sp>
        <p:nvSpPr>
          <p:cNvPr id="53" name="Text 43"/>
          <p:cNvSpPr/>
          <p:nvPr/>
        </p:nvSpPr>
        <p:spPr>
          <a:xfrm>
            <a:off x="3101876" y="3342382"/>
            <a:ext cx="328910" cy="328910"/>
          </a:xfrm>
          <a:prstGeom prst="ellipse">
            <a:avLst/>
          </a:prstGeom>
          <a:solidFill>
            <a:srgbClr val="1FB8C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199962" y="3440469"/>
            <a:ext cx="132588" cy="132588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3558927" y="3364706"/>
            <a:ext cx="536169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SNHU Travel Project: Waterfall vs. Agile</a:t>
            </a:r>
            <a:endParaRPr lang="en-US" sz="960" dirty="0"/>
          </a:p>
        </p:txBody>
      </p:sp>
      <p:sp>
        <p:nvSpPr>
          <p:cNvPr id="56" name="Text 45"/>
          <p:cNvSpPr/>
          <p:nvPr/>
        </p:nvSpPr>
        <p:spPr>
          <a:xfrm>
            <a:off x="3558927" y="3524696"/>
            <a:ext cx="5361697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study applying both methodologies</a:t>
            </a:r>
            <a:endParaRPr lang="en-US" sz="700" dirty="0"/>
          </a:p>
        </p:txBody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9">
            <a:alphaModFix amt="50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01295" y="3440543"/>
            <a:ext cx="132588" cy="132588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2600920" y="3856732"/>
            <a:ext cx="6172200" cy="585341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970" dir="5400000">
              <a:srgbClr val="0d1b2a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7"/>
          <p:cNvSpPr/>
          <p:nvPr/>
        </p:nvSpPr>
        <p:spPr>
          <a:xfrm>
            <a:off x="2786955" y="4049018"/>
            <a:ext cx="305753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dirty="0">
                <a:solidFill>
                  <a:srgbClr val="1FB8CD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580" dirty="0"/>
          </a:p>
        </p:txBody>
      </p:sp>
      <p:sp>
        <p:nvSpPr>
          <p:cNvPr id="60" name="Text 48"/>
          <p:cNvSpPr/>
          <p:nvPr/>
        </p:nvSpPr>
        <p:spPr>
          <a:xfrm>
            <a:off x="3101876" y="3984873"/>
            <a:ext cx="328910" cy="328910"/>
          </a:xfrm>
          <a:prstGeom prst="ellipse">
            <a:avLst/>
          </a:prstGeom>
          <a:solidFill>
            <a:srgbClr val="1FB8C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199962" y="4082960"/>
            <a:ext cx="132588" cy="132588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3558927" y="4007197"/>
            <a:ext cx="536169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Choosing the Right Methodology</a:t>
            </a:r>
            <a:endParaRPr lang="en-US" sz="960" dirty="0"/>
          </a:p>
        </p:txBody>
      </p:sp>
      <p:sp>
        <p:nvSpPr>
          <p:cNvPr id="63" name="Text 50"/>
          <p:cNvSpPr/>
          <p:nvPr/>
        </p:nvSpPr>
        <p:spPr>
          <a:xfrm>
            <a:off x="3558927" y="4167188"/>
            <a:ext cx="5361697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framework for ChadaTech project leaders</a:t>
            </a:r>
            <a:endParaRPr lang="en-US" sz="700" dirty="0"/>
          </a:p>
        </p:txBody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23">
            <a:alphaModFix amt="50000"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01295" y="4083034"/>
            <a:ext cx="132588" cy="132588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2"/>
          <p:cNvSpPr/>
          <p:nvPr/>
        </p:nvSpPr>
        <p:spPr>
          <a:xfrm>
            <a:off x="257770" y="1720751"/>
            <a:ext cx="74521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spc="170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CHADATECH</a:t>
            </a:r>
            <a:endParaRPr lang="en-US" sz="620" dirty="0"/>
          </a:p>
        </p:txBody>
      </p:sp>
      <p:sp>
        <p:nvSpPr>
          <p:cNvPr id="67" name="Text 53"/>
          <p:cNvSpPr/>
          <p:nvPr/>
        </p:nvSpPr>
        <p:spPr>
          <a:xfrm>
            <a:off x="257770" y="1982242"/>
            <a:ext cx="1053676" cy="692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spcAft>
                <a:spcPts val="1130"/>
              </a:spcAft>
              <a:buNone/>
            </a:pPr>
            <a:r>
              <a:rPr lang="en-US" sz="236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Today's</a:t>
            </a:r>
            <a:br/>
            <a:pPr algn="l" indent="0" marL="0">
              <a:lnSpc>
                <a:spcPts val="2596"/>
              </a:lnSpc>
              <a:spcAft>
                <a:spcPts val="1130"/>
              </a:spcAft>
              <a:buNone/>
            </a:pPr>
            <a:r>
              <a:rPr lang="en-US" sz="236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2360" dirty="0"/>
          </a:p>
        </p:txBody>
      </p:sp>
      <p:sp>
        <p:nvSpPr>
          <p:cNvPr id="68" name="Text 54"/>
          <p:cNvSpPr/>
          <p:nvPr/>
        </p:nvSpPr>
        <p:spPr>
          <a:xfrm>
            <a:off x="257770" y="2785021"/>
            <a:ext cx="342900" cy="21580"/>
          </a:xfrm>
          <a:prstGeom prst="roundRect">
            <a:avLst>
              <a:gd name="adj" fmla="val 64736"/>
            </a:avLst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55"/>
          <p:cNvSpPr/>
          <p:nvPr/>
        </p:nvSpPr>
        <p:spPr>
          <a:xfrm>
            <a:off x="257770" y="2978051"/>
            <a:ext cx="1097092" cy="466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8"/>
              </a:lnSpc>
              <a:buNone/>
            </a:pPr>
            <a:r>
              <a:rPr lang="en-US" sz="73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 &amp; strategic</a:t>
            </a:r>
            <a:br/>
            <a:pPr algn="l" indent="0" marL="0">
              <a:lnSpc>
                <a:spcPts val="1168"/>
              </a:lnSpc>
              <a:buNone/>
            </a:pPr>
            <a:r>
              <a:rPr lang="en-US" sz="73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for ChadaTech</a:t>
            </a:r>
            <a:br/>
            <a:pPr algn="l" indent="0" marL="0">
              <a:lnSpc>
                <a:spcPts val="1168"/>
              </a:lnSpc>
              <a:buNone/>
            </a:pPr>
            <a:r>
              <a:rPr lang="en-US" sz="73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leadership.</a:t>
            </a:r>
            <a:endParaRPr lang="en-US" sz="730" dirty="0"/>
          </a:p>
        </p:txBody>
      </p:sp>
      <p:sp>
        <p:nvSpPr>
          <p:cNvPr id="70" name="Text 56"/>
          <p:cNvSpPr/>
          <p:nvPr/>
        </p:nvSpPr>
        <p:spPr>
          <a:xfrm>
            <a:off x="2086566" y="0"/>
            <a:ext cx="40005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FB8CD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FB8CD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1FB8CD"/>
              </a:gs>
              <a:gs pos="60000">
                <a:srgbClr val="0E7EA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143970" cy="38582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280" y="1856780"/>
            <a:ext cx="4429720" cy="3286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67526" y="214610"/>
            <a:ext cx="74406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88" kern="0" dirty="0">
                <a:solidFill>
                  <a:srgbClr val="7DA3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CHADA</a:t>
            </a:r>
            <a:pPr algn="l" indent="0" marL="0">
              <a:lnSpc>
                <a:spcPts val="1095"/>
              </a:lnSpc>
              <a:buNone/>
            </a:pPr>
            <a:r>
              <a:rPr lang="en-US" sz="730" b="1" spc="88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</a:t>
            </a:r>
            <a:endParaRPr lang="en-US" sz="730" dirty="0"/>
          </a:p>
        </p:txBody>
      </p:sp>
      <p:sp>
        <p:nvSpPr>
          <p:cNvPr id="8" name="Text 4"/>
          <p:cNvSpPr/>
          <p:nvPr/>
        </p:nvSpPr>
        <p:spPr>
          <a:xfrm>
            <a:off x="400050" y="171450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5"/>
              </a:lnSpc>
              <a:buNone/>
            </a:pPr>
            <a:r>
              <a:rPr lang="en-US" sz="2030" spc="41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pPr algn="l" indent="0" marL="0">
              <a:lnSpc>
                <a:spcPts val="2335"/>
              </a:lnSpc>
              <a:buNone/>
            </a:pPr>
            <a:r>
              <a:rPr lang="en-US" sz="2030" spc="41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Agile-Scrum</a:t>
            </a:r>
            <a:pPr algn="l" indent="0" marL="0">
              <a:lnSpc>
                <a:spcPts val="2335"/>
              </a:lnSpc>
              <a:buNone/>
            </a:pPr>
            <a:r>
              <a:rPr lang="en-US" sz="2030" spc="41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Approach</a:t>
            </a:r>
            <a:endParaRPr lang="en-US" sz="2030" dirty="0"/>
          </a:p>
        </p:txBody>
      </p:sp>
      <p:sp>
        <p:nvSpPr>
          <p:cNvPr id="9" name="Text 5"/>
          <p:cNvSpPr/>
          <p:nvPr/>
        </p:nvSpPr>
        <p:spPr>
          <a:xfrm>
            <a:off x="400050" y="496937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spc="151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 ·  ADAPTIVE  ·  CUSTOMER-CENTRIC</a:t>
            </a:r>
            <a:endParaRPr lang="en-US" sz="840" dirty="0"/>
          </a:p>
        </p:txBody>
      </p:sp>
      <p:sp>
        <p:nvSpPr>
          <p:cNvPr id="10" name="Text 6"/>
          <p:cNvSpPr/>
          <p:nvPr/>
        </p:nvSpPr>
        <p:spPr>
          <a:xfrm>
            <a:off x="400050" y="714077"/>
            <a:ext cx="457200" cy="21580"/>
          </a:xfrm>
          <a:prstGeom prst="roundRect">
            <a:avLst>
              <a:gd name="adj" fmla="val 64736"/>
            </a:avLst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00050" y="843260"/>
            <a:ext cx="1989832" cy="2203698"/>
          </a:xfrm>
          <a:prstGeom prst="roundRect">
            <a:avLst>
              <a:gd name="adj" fmla="val 4340"/>
            </a:avLst>
          </a:prstGeom>
          <a:solidFill>
            <a:srgbClr val="162236"/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53045" y="1010245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993" y="1112193"/>
            <a:ext cx="139005" cy="1390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045" y="1424136"/>
            <a:ext cx="952574" cy="164753"/>
          </a:xfrm>
          <a:prstGeom prst="roundRect">
            <a:avLst>
              <a:gd name="adj" fmla="val 87106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none" lIns="155198" tIns="13970" rIns="71120" bIns="13970" rtlCol="0" anchor="ctr"/>
          <a:lstStyle/>
          <a:p>
            <a:pPr algn="l" indent="0" marL="0">
              <a:buNone/>
            </a:pPr>
            <a:r>
              <a:rPr lang="en-US" sz="620" b="1" spc="5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SPRINT-DRIVEN</a:t>
            </a:r>
            <a:endParaRPr lang="en-US" sz="62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1526" y="1440144"/>
            <a:ext cx="132588" cy="132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3045" y="1659880"/>
            <a:ext cx="185222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spc="1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Iterative Development</a:t>
            </a:r>
            <a:endParaRPr lang="en-US" sz="960" dirty="0"/>
          </a:p>
        </p:txBody>
      </p:sp>
      <p:sp>
        <p:nvSpPr>
          <p:cNvPr id="17" name="Text 11"/>
          <p:cNvSpPr/>
          <p:nvPr/>
        </p:nvSpPr>
        <p:spPr>
          <a:xfrm>
            <a:off x="553045" y="1877020"/>
            <a:ext cx="1717518" cy="1067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delivered in short, fixed Sprints (1–4 weeks), producing a potentially shippable increment every cycle.</a:t>
            </a:r>
            <a:endParaRPr lang="en-US" sz="760" dirty="0"/>
          </a:p>
        </p:txBody>
      </p:sp>
      <p:sp>
        <p:nvSpPr>
          <p:cNvPr id="18" name="Text 12"/>
          <p:cNvSpPr/>
          <p:nvPr/>
        </p:nvSpPr>
        <p:spPr>
          <a:xfrm>
            <a:off x="2518023" y="843260"/>
            <a:ext cx="1989832" cy="2203698"/>
          </a:xfrm>
          <a:prstGeom prst="roundRect">
            <a:avLst>
              <a:gd name="adj" fmla="val 4340"/>
            </a:avLst>
          </a:prstGeom>
          <a:solidFill>
            <a:srgbClr val="162236"/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2671018" y="1010245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72966" y="1112193"/>
            <a:ext cx="139005" cy="13900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671018" y="1424136"/>
            <a:ext cx="1185443" cy="164753"/>
          </a:xfrm>
          <a:prstGeom prst="roundRect">
            <a:avLst>
              <a:gd name="adj" fmla="val 87106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none" lIns="155198" tIns="13970" rIns="71120" bIns="13970" rtlCol="0" anchor="ctr"/>
          <a:lstStyle/>
          <a:p>
            <a:pPr algn="l" indent="0" marL="0">
              <a:buNone/>
            </a:pPr>
            <a:r>
              <a:rPr lang="en-US" sz="620" b="1" spc="5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</a:t>
            </a:r>
            <a:endParaRPr lang="en-US" sz="62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09499" y="1440144"/>
            <a:ext cx="132588" cy="1325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671018" y="1659880"/>
            <a:ext cx="185222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spc="1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Collaborative Teams</a:t>
            </a:r>
            <a:endParaRPr lang="en-US" sz="960" dirty="0"/>
          </a:p>
        </p:txBody>
      </p:sp>
      <p:sp>
        <p:nvSpPr>
          <p:cNvPr id="24" name="Text 16"/>
          <p:cNvSpPr/>
          <p:nvPr/>
        </p:nvSpPr>
        <p:spPr>
          <a:xfrm>
            <a:off x="2671018" y="1877020"/>
            <a:ext cx="1717518" cy="1067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self-managing, cross-functional Scrum Teams of 10 or fewer, aligned to a single Product Goal.</a:t>
            </a:r>
            <a:endParaRPr lang="en-US" sz="760" dirty="0"/>
          </a:p>
        </p:txBody>
      </p:sp>
      <p:sp>
        <p:nvSpPr>
          <p:cNvPr id="25" name="Text 17"/>
          <p:cNvSpPr/>
          <p:nvPr/>
        </p:nvSpPr>
        <p:spPr>
          <a:xfrm>
            <a:off x="4635996" y="843260"/>
            <a:ext cx="1989832" cy="2203698"/>
          </a:xfrm>
          <a:prstGeom prst="roundRect">
            <a:avLst>
              <a:gd name="adj" fmla="val 4340"/>
            </a:avLst>
          </a:prstGeom>
          <a:solidFill>
            <a:srgbClr val="162236"/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4788991" y="1010245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90939" y="1112193"/>
            <a:ext cx="139005" cy="13900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788991" y="1424136"/>
            <a:ext cx="1056864" cy="164753"/>
          </a:xfrm>
          <a:prstGeom prst="roundRect">
            <a:avLst>
              <a:gd name="adj" fmla="val 87106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none" lIns="155198" tIns="13970" rIns="71120" bIns="13970" rtlCol="0" anchor="ctr"/>
          <a:lstStyle/>
          <a:p>
            <a:pPr algn="l" indent="0" marL="0">
              <a:buNone/>
            </a:pPr>
            <a:r>
              <a:rPr lang="en-US" sz="620" b="1" spc="5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</a:t>
            </a:r>
            <a:endParaRPr lang="en-US" sz="62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27472" y="1440144"/>
            <a:ext cx="132588" cy="13258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788991" y="1659880"/>
            <a:ext cx="185222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spc="1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Empirical Process</a:t>
            </a:r>
            <a:endParaRPr lang="en-US" sz="960" dirty="0"/>
          </a:p>
        </p:txBody>
      </p:sp>
      <p:sp>
        <p:nvSpPr>
          <p:cNvPr id="31" name="Text 21"/>
          <p:cNvSpPr/>
          <p:nvPr/>
        </p:nvSpPr>
        <p:spPr>
          <a:xfrm>
            <a:off x="4788991" y="1877020"/>
            <a:ext cx="1717518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Transparency, Inspection, and Adaptation are Scrum's three pillars — decisions are based on real observed evidence.</a:t>
            </a:r>
            <a:endParaRPr lang="en-US" sz="760" dirty="0"/>
          </a:p>
        </p:txBody>
      </p:sp>
      <p:sp>
        <p:nvSpPr>
          <p:cNvPr id="32" name="Text 22"/>
          <p:cNvSpPr/>
          <p:nvPr/>
        </p:nvSpPr>
        <p:spPr>
          <a:xfrm>
            <a:off x="4788991" y="2546300"/>
            <a:ext cx="628948" cy="167476"/>
          </a:xfrm>
          <a:prstGeom prst="roundRect">
            <a:avLst>
              <a:gd name="adj" fmla="val 17441"/>
            </a:avLst>
          </a:prstGeom>
          <a:solidFill>
            <a:srgbClr val="1FB8CD">
              <a:alpha val="8000"/>
            </a:srgbClr>
          </a:solidFill>
          <a:ln w="9525">
            <a:solidFill>
              <a:srgbClr val="1FB8CD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620" dirty="0"/>
          </a:p>
        </p:txBody>
      </p:sp>
      <p:sp>
        <p:nvSpPr>
          <p:cNvPr id="33" name="Text 23"/>
          <p:cNvSpPr/>
          <p:nvPr/>
        </p:nvSpPr>
        <p:spPr>
          <a:xfrm>
            <a:off x="5461099" y="2546300"/>
            <a:ext cx="510927" cy="167476"/>
          </a:xfrm>
          <a:prstGeom prst="roundRect">
            <a:avLst>
              <a:gd name="adj" fmla="val 17441"/>
            </a:avLst>
          </a:prstGeom>
          <a:solidFill>
            <a:srgbClr val="1FB8CD">
              <a:alpha val="8000"/>
            </a:srgbClr>
          </a:solidFill>
          <a:ln w="9525">
            <a:solidFill>
              <a:srgbClr val="1FB8CD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620" dirty="0"/>
          </a:p>
        </p:txBody>
      </p:sp>
      <p:sp>
        <p:nvSpPr>
          <p:cNvPr id="34" name="Text 24"/>
          <p:cNvSpPr/>
          <p:nvPr/>
        </p:nvSpPr>
        <p:spPr>
          <a:xfrm>
            <a:off x="4788991" y="2741712"/>
            <a:ext cx="528340" cy="167476"/>
          </a:xfrm>
          <a:prstGeom prst="roundRect">
            <a:avLst>
              <a:gd name="adj" fmla="val 17441"/>
            </a:avLst>
          </a:prstGeom>
          <a:solidFill>
            <a:srgbClr val="1FB8CD">
              <a:alpha val="8000"/>
            </a:srgbClr>
          </a:solidFill>
          <a:ln w="9525">
            <a:solidFill>
              <a:srgbClr val="1FB8CD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620" dirty="0"/>
          </a:p>
        </p:txBody>
      </p:sp>
      <p:sp>
        <p:nvSpPr>
          <p:cNvPr id="35" name="Text 25"/>
          <p:cNvSpPr/>
          <p:nvPr/>
        </p:nvSpPr>
        <p:spPr>
          <a:xfrm>
            <a:off x="6753969" y="843260"/>
            <a:ext cx="1989981" cy="2203698"/>
          </a:xfrm>
          <a:prstGeom prst="roundRect">
            <a:avLst>
              <a:gd name="adj" fmla="val 4340"/>
            </a:avLst>
          </a:prstGeom>
          <a:solidFill>
            <a:srgbClr val="162236"/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6906964" y="1010245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08912" y="1112193"/>
            <a:ext cx="139005" cy="139005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906964" y="1424136"/>
            <a:ext cx="1174513" cy="164753"/>
          </a:xfrm>
          <a:prstGeom prst="roundRect">
            <a:avLst>
              <a:gd name="adj" fmla="val 87106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none" lIns="155198" tIns="13970" rIns="71120" bIns="13970" rtlCol="0" anchor="ctr"/>
          <a:lstStyle/>
          <a:p>
            <a:pPr algn="l" indent="0" marL="0">
              <a:buNone/>
            </a:pPr>
            <a:r>
              <a:rPr lang="en-US" sz="620" b="1" spc="5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OUTCOME-FOCUSED</a:t>
            </a:r>
            <a:endParaRPr lang="en-US" sz="62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45445" y="1440144"/>
            <a:ext cx="132588" cy="13258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906964" y="1659880"/>
            <a:ext cx="1852389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spc="1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Customer-First Value</a:t>
            </a:r>
            <a:endParaRPr lang="en-US" sz="960" dirty="0"/>
          </a:p>
        </p:txBody>
      </p:sp>
      <p:sp>
        <p:nvSpPr>
          <p:cNvPr id="41" name="Text 29"/>
          <p:cNvSpPr/>
          <p:nvPr/>
        </p:nvSpPr>
        <p:spPr>
          <a:xfrm>
            <a:off x="6906964" y="1877020"/>
            <a:ext cx="1717670" cy="1067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stakeholder feedback ensures the product evolves to meet real needs, not frozen requirements.</a:t>
            </a:r>
            <a:endParaRPr lang="en-US" sz="760" dirty="0"/>
          </a:p>
        </p:txBody>
      </p:sp>
      <p:sp>
        <p:nvSpPr>
          <p:cNvPr id="42" name="Text 30"/>
          <p:cNvSpPr/>
          <p:nvPr/>
        </p:nvSpPr>
        <p:spPr>
          <a:xfrm>
            <a:off x="400050" y="4674394"/>
            <a:ext cx="8343900" cy="311646"/>
          </a:xfrm>
          <a:prstGeom prst="rect">
            <a:avLst/>
          </a:prstGeom>
          <a:gradFill rotWithShape="1">
            <a:gsLst>
              <a:gs pos="0">
                <a:srgbClr val="1FB8CD">
                  <a:alpha val="13000"/>
                </a:srgbClr>
              </a:gs>
              <a:gs pos="100000">
                <a:srgbClr val="1FB8CD">
                  <a:alpha val="4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1"/>
          <p:cNvSpPr/>
          <p:nvPr/>
        </p:nvSpPr>
        <p:spPr>
          <a:xfrm>
            <a:off x="400050" y="4674394"/>
            <a:ext cx="28575" cy="311646"/>
          </a:xfrm>
          <a:prstGeom prst="rect">
            <a:avLst/>
          </a:pr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9">
            <a:alphaModFix amt="70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2791" y="4763848"/>
            <a:ext cx="132588" cy="132588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832396" y="4762649"/>
            <a:ext cx="5203061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i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"The Scrum framework is purposefully incomplete, only defining the parts required to implement Scrum theory."</a:t>
            </a:r>
            <a:endParaRPr lang="en-US" sz="760" dirty="0"/>
          </a:p>
        </p:txBody>
      </p:sp>
      <p:sp>
        <p:nvSpPr>
          <p:cNvPr id="46" name="Text 33"/>
          <p:cNvSpPr/>
          <p:nvPr/>
        </p:nvSpPr>
        <p:spPr>
          <a:xfrm>
            <a:off x="7591276" y="4768304"/>
            <a:ext cx="991133" cy="123825"/>
          </a:xfrm>
          <a:prstGeom prst="rect">
            <a:avLst/>
          </a:prstGeom>
          <a:noFill/>
          <a:ln/>
        </p:spPr>
        <p:txBody>
          <a:bodyPr wrap="none" lIns="11430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Scrum Guide, 2020</a:t>
            </a:r>
            <a:endParaRPr lang="en-US" sz="650" dirty="0"/>
          </a:p>
        </p:txBody>
      </p:sp>
      <p:sp>
        <p:nvSpPr>
          <p:cNvPr id="47" name="Text 34"/>
          <p:cNvSpPr/>
          <p:nvPr/>
        </p:nvSpPr>
        <p:spPr>
          <a:xfrm>
            <a:off x="7591276" y="4768304"/>
            <a:ext cx="9525" cy="123825"/>
          </a:xfrm>
          <a:prstGeom prst="rect">
            <a:avLst/>
          </a:prstGeom>
          <a:solidFill>
            <a:srgbClr val="1FB8CD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5"/>
          <p:cNvSpPr/>
          <p:nvPr/>
        </p:nvSpPr>
        <p:spPr>
          <a:xfrm>
            <a:off x="409575" y="852785"/>
            <a:ext cx="1970780" cy="21580"/>
          </a:xfrm>
          <a:custGeom>
            <a:avLst/>
            <a:gdLst/>
            <a:ahLst/>
            <a:cxnLst/>
            <a:rect l="l" t="t" r="r" b="b"/>
            <a:pathLst>
              <a:path w="1970780" h="21580">
                <a:moveTo>
                  <a:pt x="86360" y="0"/>
                </a:moveTo>
                <a:lnTo>
                  <a:pt x="1884420" y="0"/>
                </a:lnTo>
                <a:lnTo>
                  <a:pt x="1905835" y="2698"/>
                </a:lnTo>
                <a:lnTo>
                  <a:pt x="1914465" y="5395"/>
                </a:lnTo>
                <a:lnTo>
                  <a:pt x="1920920" y="8093"/>
                </a:lnTo>
                <a:lnTo>
                  <a:pt x="1926219" y="10790"/>
                </a:lnTo>
                <a:lnTo>
                  <a:pt x="1930762" y="13488"/>
                </a:lnTo>
                <a:lnTo>
                  <a:pt x="1934754" y="16185"/>
                </a:lnTo>
                <a:lnTo>
                  <a:pt x="1938316" y="18883"/>
                </a:lnTo>
                <a:lnTo>
                  <a:pt x="194153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FB8C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36"/>
          <p:cNvSpPr/>
          <p:nvPr/>
        </p:nvSpPr>
        <p:spPr>
          <a:xfrm>
            <a:off x="1952473" y="2609557"/>
            <a:ext cx="642491" cy="642491"/>
          </a:xfrm>
          <a:prstGeom prst="ellipse">
            <a:avLst/>
          </a:prstGeom>
          <a:solidFill>
            <a:srgbClr val="1FB8C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7"/>
          <p:cNvSpPr/>
          <p:nvPr/>
        </p:nvSpPr>
        <p:spPr>
          <a:xfrm>
            <a:off x="2527548" y="852785"/>
            <a:ext cx="1970780" cy="21580"/>
          </a:xfrm>
          <a:custGeom>
            <a:avLst/>
            <a:gdLst/>
            <a:ahLst/>
            <a:cxnLst/>
            <a:rect l="l" t="t" r="r" b="b"/>
            <a:pathLst>
              <a:path w="1970780" h="21580">
                <a:moveTo>
                  <a:pt x="86360" y="0"/>
                </a:moveTo>
                <a:lnTo>
                  <a:pt x="1884420" y="0"/>
                </a:lnTo>
                <a:lnTo>
                  <a:pt x="1905835" y="2698"/>
                </a:lnTo>
                <a:lnTo>
                  <a:pt x="1914465" y="5395"/>
                </a:lnTo>
                <a:lnTo>
                  <a:pt x="1920920" y="8093"/>
                </a:lnTo>
                <a:lnTo>
                  <a:pt x="1926219" y="10790"/>
                </a:lnTo>
                <a:lnTo>
                  <a:pt x="1930762" y="13488"/>
                </a:lnTo>
                <a:lnTo>
                  <a:pt x="1934754" y="16185"/>
                </a:lnTo>
                <a:lnTo>
                  <a:pt x="1938316" y="18883"/>
                </a:lnTo>
                <a:lnTo>
                  <a:pt x="194153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FB8C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38"/>
          <p:cNvSpPr/>
          <p:nvPr/>
        </p:nvSpPr>
        <p:spPr>
          <a:xfrm>
            <a:off x="4070446" y="2609557"/>
            <a:ext cx="642491" cy="642491"/>
          </a:xfrm>
          <a:prstGeom prst="ellipse">
            <a:avLst/>
          </a:prstGeom>
          <a:solidFill>
            <a:srgbClr val="1FB8C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39"/>
          <p:cNvSpPr/>
          <p:nvPr/>
        </p:nvSpPr>
        <p:spPr>
          <a:xfrm>
            <a:off x="4645521" y="852785"/>
            <a:ext cx="1970780" cy="21580"/>
          </a:xfrm>
          <a:custGeom>
            <a:avLst/>
            <a:gdLst/>
            <a:ahLst/>
            <a:cxnLst/>
            <a:rect l="l" t="t" r="r" b="b"/>
            <a:pathLst>
              <a:path w="1970780" h="21580">
                <a:moveTo>
                  <a:pt x="86360" y="0"/>
                </a:moveTo>
                <a:lnTo>
                  <a:pt x="1884420" y="0"/>
                </a:lnTo>
                <a:lnTo>
                  <a:pt x="1905835" y="2698"/>
                </a:lnTo>
                <a:lnTo>
                  <a:pt x="1914465" y="5395"/>
                </a:lnTo>
                <a:lnTo>
                  <a:pt x="1920920" y="8093"/>
                </a:lnTo>
                <a:lnTo>
                  <a:pt x="1926219" y="10790"/>
                </a:lnTo>
                <a:lnTo>
                  <a:pt x="1930762" y="13488"/>
                </a:lnTo>
                <a:lnTo>
                  <a:pt x="1934754" y="16185"/>
                </a:lnTo>
                <a:lnTo>
                  <a:pt x="1938316" y="18883"/>
                </a:lnTo>
                <a:lnTo>
                  <a:pt x="194153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FB8C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0"/>
          <p:cNvSpPr/>
          <p:nvPr/>
        </p:nvSpPr>
        <p:spPr>
          <a:xfrm>
            <a:off x="6188419" y="2609557"/>
            <a:ext cx="642491" cy="642491"/>
          </a:xfrm>
          <a:prstGeom prst="ellipse">
            <a:avLst/>
          </a:prstGeom>
          <a:solidFill>
            <a:srgbClr val="1FB8C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1"/>
          <p:cNvSpPr/>
          <p:nvPr/>
        </p:nvSpPr>
        <p:spPr>
          <a:xfrm>
            <a:off x="6763494" y="852785"/>
            <a:ext cx="1970932" cy="21580"/>
          </a:xfrm>
          <a:custGeom>
            <a:avLst/>
            <a:gdLst/>
            <a:ahLst/>
            <a:cxnLst/>
            <a:rect l="l" t="t" r="r" b="b"/>
            <a:pathLst>
              <a:path w="1970932" h="21580">
                <a:moveTo>
                  <a:pt x="86360" y="0"/>
                </a:moveTo>
                <a:lnTo>
                  <a:pt x="1884572" y="0"/>
                </a:lnTo>
                <a:lnTo>
                  <a:pt x="1905988" y="2698"/>
                </a:lnTo>
                <a:lnTo>
                  <a:pt x="1914617" y="5395"/>
                </a:lnTo>
                <a:lnTo>
                  <a:pt x="1921072" y="8093"/>
                </a:lnTo>
                <a:lnTo>
                  <a:pt x="1926372" y="10790"/>
                </a:lnTo>
                <a:lnTo>
                  <a:pt x="1930915" y="13488"/>
                </a:lnTo>
                <a:lnTo>
                  <a:pt x="1934906" y="16185"/>
                </a:lnTo>
                <a:lnTo>
                  <a:pt x="1938469" y="18883"/>
                </a:lnTo>
                <a:lnTo>
                  <a:pt x="1941682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FB8C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2"/>
          <p:cNvSpPr/>
          <p:nvPr/>
        </p:nvSpPr>
        <p:spPr>
          <a:xfrm>
            <a:off x="8306544" y="2609557"/>
            <a:ext cx="642491" cy="642491"/>
          </a:xfrm>
          <a:prstGeom prst="ellipse">
            <a:avLst/>
          </a:prstGeom>
          <a:solidFill>
            <a:srgbClr val="1FB8C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D1B2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57770"/>
            <a:ext cx="4106479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1"/>
              </a:lnSpc>
              <a:buNone/>
            </a:pPr>
            <a:r>
              <a:rPr lang="en-US" sz="2140" spc="-20" kern="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Agile Roles &amp; </a:t>
            </a:r>
            <a:pPr algn="l" indent="0" marL="0">
              <a:lnSpc>
                <a:spcPts val="2461"/>
              </a:lnSpc>
              <a:buNone/>
            </a:pPr>
            <a:r>
              <a:rPr lang="en-US" sz="2140" b="1" spc="-20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Accountabilities</a:t>
            </a:r>
            <a:endParaRPr lang="en-US" sz="2140" dirty="0"/>
          </a:p>
        </p:txBody>
      </p:sp>
      <p:sp>
        <p:nvSpPr>
          <p:cNvPr id="4" name="Text 2"/>
          <p:cNvSpPr/>
          <p:nvPr/>
        </p:nvSpPr>
        <p:spPr>
          <a:xfrm>
            <a:off x="457200" y="599331"/>
            <a:ext cx="422161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230"/>
              </a:spcBef>
              <a:buNone/>
            </a:pPr>
            <a:r>
              <a:rPr lang="en-US" sz="960" spc="10" kern="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accountabilities — one unified Scrum Team.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7280672" y="510480"/>
            <a:ext cx="242441" cy="242441"/>
          </a:xfrm>
          <a:prstGeom prst="ellipse">
            <a:avLst/>
          </a:prstGeom>
          <a:solidFill>
            <a:srgbClr val="1FB8CD">
              <a:alpha val="15000"/>
            </a:srgbClr>
          </a:solidFill>
          <a:ln w="9525">
            <a:solidFill>
              <a:srgbClr val="1FB8CD"/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5524" y="565333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66273" y="510480"/>
            <a:ext cx="242441" cy="242441"/>
          </a:xfrm>
          <a:prstGeom prst="ellipse">
            <a:avLst/>
          </a:prstGeom>
          <a:solidFill>
            <a:srgbClr val="D97706">
              <a:alpha val="12000"/>
            </a:srgbClr>
          </a:solidFill>
          <a:ln w="9525">
            <a:solidFill>
              <a:srgbClr val="D97706"/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1125" y="565333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51874" y="510480"/>
            <a:ext cx="242441" cy="242441"/>
          </a:xfrm>
          <a:prstGeom prst="ellipse">
            <a:avLst/>
          </a:prstGeom>
          <a:solidFill>
            <a:srgbClr val="0D1B2A">
              <a:alpha val="8000"/>
            </a:srgbClr>
          </a:solidFill>
          <a:ln w="9525">
            <a:solidFill>
              <a:srgbClr val="2C4A63"/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6726" y="565333"/>
            <a:ext cx="132588" cy="132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66646" y="566886"/>
            <a:ext cx="57217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Team</a:t>
            </a:r>
            <a:endParaRPr lang="en-US" sz="680" dirty="0"/>
          </a:p>
        </p:txBody>
      </p:sp>
      <p:sp>
        <p:nvSpPr>
          <p:cNvPr id="12" name="Text 7"/>
          <p:cNvSpPr/>
          <p:nvPr/>
        </p:nvSpPr>
        <p:spPr>
          <a:xfrm>
            <a:off x="457200" y="943273"/>
            <a:ext cx="2333179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C8D8E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2847529" y="925562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2947839" y="882402"/>
            <a:ext cx="357299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SUB-TEAMS · NO HIERARCHIES · SHARED ACCOUNTABILITY</a:t>
            </a:r>
            <a:endParaRPr lang="en-US" sz="680" dirty="0"/>
          </a:p>
        </p:txBody>
      </p:sp>
      <p:sp>
        <p:nvSpPr>
          <p:cNvPr id="15" name="Text 10"/>
          <p:cNvSpPr/>
          <p:nvPr/>
        </p:nvSpPr>
        <p:spPr>
          <a:xfrm>
            <a:off x="6253163" y="925562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353473" y="943273"/>
            <a:ext cx="2333327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C8D8E8"/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57200" y="1155353"/>
            <a:ext cx="2647504" cy="2524720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3510" dist="29210" dir="5400000">
              <a:srgbClr val="0d1b2a">
                <a:alpha val="9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57200" y="1155353"/>
            <a:ext cx="2647504" cy="28575"/>
          </a:xfrm>
          <a:custGeom>
            <a:avLst/>
            <a:gdLst/>
            <a:ahLst/>
            <a:cxnLst/>
            <a:rect l="l" t="t" r="r" b="b"/>
            <a:pathLst>
              <a:path w="2647504" h="28575">
                <a:moveTo>
                  <a:pt x="100330" y="0"/>
                </a:moveTo>
                <a:lnTo>
                  <a:pt x="73797" y="3572"/>
                </a:lnTo>
                <a:lnTo>
                  <a:pt x="63149" y="7144"/>
                </a:lnTo>
                <a:lnTo>
                  <a:pt x="55215" y="10716"/>
                </a:lnTo>
                <a:lnTo>
                  <a:pt x="48727" y="14288"/>
                </a:lnTo>
                <a:lnTo>
                  <a:pt x="43192" y="17859"/>
                </a:lnTo>
                <a:lnTo>
                  <a:pt x="38353" y="21431"/>
                </a:lnTo>
                <a:lnTo>
                  <a:pt x="34058" y="25003"/>
                </a:lnTo>
                <a:lnTo>
                  <a:pt x="30206" y="28575"/>
                </a:lnTo>
                <a:lnTo>
                  <a:pt x="2617297" y="28575"/>
                </a:lnTo>
                <a:lnTo>
                  <a:pt x="2613446" y="25003"/>
                </a:lnTo>
                <a:lnTo>
                  <a:pt x="2609150" y="21431"/>
                </a:lnTo>
                <a:lnTo>
                  <a:pt x="2604311" y="17859"/>
                </a:lnTo>
                <a:lnTo>
                  <a:pt x="2598776" y="14288"/>
                </a:lnTo>
                <a:lnTo>
                  <a:pt x="2592289" y="10716"/>
                </a:lnTo>
                <a:lnTo>
                  <a:pt x="2584355" y="7144"/>
                </a:lnTo>
                <a:lnTo>
                  <a:pt x="2573706" y="3572"/>
                </a:lnTo>
                <a:lnTo>
                  <a:pt x="2547174" y="0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14660" y="1355378"/>
            <a:ext cx="372070" cy="372070"/>
          </a:xfrm>
          <a:prstGeom prst="ellipse">
            <a:avLst/>
          </a:prstGeom>
          <a:solidFill>
            <a:srgbClr val="E6F8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193" y="1471910"/>
            <a:ext cx="139005" cy="13900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4660" y="1813768"/>
            <a:ext cx="2565842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Scrum Master</a:t>
            </a:r>
            <a:endParaRPr lang="en-US" sz="1240" dirty="0"/>
          </a:p>
        </p:txBody>
      </p:sp>
      <p:sp>
        <p:nvSpPr>
          <p:cNvPr id="22" name="Text 16"/>
          <p:cNvSpPr/>
          <p:nvPr/>
        </p:nvSpPr>
        <p:spPr>
          <a:xfrm>
            <a:off x="614660" y="2031802"/>
            <a:ext cx="1046693" cy="166985"/>
          </a:xfrm>
          <a:prstGeom prst="roundRect">
            <a:avLst>
              <a:gd name="adj" fmla="val 85942"/>
            </a:avLst>
          </a:prstGeom>
          <a:solidFill>
            <a:srgbClr val="E6F8FA"/>
          </a:solidFill>
          <a:ln/>
        </p:spPr>
        <p:txBody>
          <a:bodyPr wrap="none" lIns="153611" tIns="21590" rIns="71120" bIns="21590" rtlCol="0" anchor="ctr"/>
          <a:lstStyle/>
          <a:p>
            <a:pPr algn="l" indent="0" marL="0">
              <a:buNone/>
            </a:pPr>
            <a:r>
              <a:rPr lang="en-US" sz="650" b="1" spc="30" kern="0" dirty="0">
                <a:solidFill>
                  <a:srgbClr val="0E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SERVANT LEADER</a:t>
            </a:r>
            <a:endParaRPr lang="en-US" sz="6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5997" y="2049000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4970" y="2393007"/>
            <a:ext cx="2276919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team in self-management and cross-functionality</a:t>
            </a:r>
            <a:endParaRPr lang="en-US" sz="760" dirty="0"/>
          </a:p>
        </p:txBody>
      </p:sp>
      <p:sp>
        <p:nvSpPr>
          <p:cNvPr id="25" name="Text 18"/>
          <p:cNvSpPr/>
          <p:nvPr/>
        </p:nvSpPr>
        <p:spPr>
          <a:xfrm>
            <a:off x="614660" y="2428429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714970" y="2712690"/>
            <a:ext cx="2205186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impediments blocking team progress</a:t>
            </a:r>
            <a:endParaRPr lang="en-US" sz="760" dirty="0"/>
          </a:p>
        </p:txBody>
      </p:sp>
      <p:sp>
        <p:nvSpPr>
          <p:cNvPr id="27" name="Text 20"/>
          <p:cNvSpPr/>
          <p:nvPr/>
        </p:nvSpPr>
        <p:spPr>
          <a:xfrm>
            <a:off x="614660" y="2748111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714970" y="2897237"/>
            <a:ext cx="2441094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all Scrum events occur and stay productive</a:t>
            </a:r>
            <a:endParaRPr lang="en-US" sz="760" dirty="0"/>
          </a:p>
        </p:txBody>
      </p:sp>
      <p:sp>
        <p:nvSpPr>
          <p:cNvPr id="29" name="Text 22"/>
          <p:cNvSpPr/>
          <p:nvPr/>
        </p:nvSpPr>
        <p:spPr>
          <a:xfrm>
            <a:off x="614660" y="2932658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714970" y="3081784"/>
            <a:ext cx="1686550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 stakeholder collaboration</a:t>
            </a:r>
            <a:endParaRPr lang="en-US" sz="760" dirty="0"/>
          </a:p>
        </p:txBody>
      </p:sp>
      <p:sp>
        <p:nvSpPr>
          <p:cNvPr id="31" name="Text 24"/>
          <p:cNvSpPr/>
          <p:nvPr/>
        </p:nvSpPr>
        <p:spPr>
          <a:xfrm>
            <a:off x="614660" y="3117205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714970" y="3266331"/>
            <a:ext cx="2276919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Scrum practices across the organization</a:t>
            </a:r>
            <a:endParaRPr lang="en-US" sz="760" dirty="0"/>
          </a:p>
        </p:txBody>
      </p:sp>
      <p:sp>
        <p:nvSpPr>
          <p:cNvPr id="33" name="Text 26"/>
          <p:cNvSpPr/>
          <p:nvPr/>
        </p:nvSpPr>
        <p:spPr>
          <a:xfrm>
            <a:off x="614660" y="3301752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3248174" y="1155353"/>
            <a:ext cx="2647652" cy="2524720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3510" dist="29210" dir="5400000">
              <a:srgbClr val="0d1b2a">
                <a:alpha val="9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3248174" y="1155353"/>
            <a:ext cx="2647652" cy="28575"/>
          </a:xfrm>
          <a:custGeom>
            <a:avLst/>
            <a:gdLst/>
            <a:ahLst/>
            <a:cxnLst/>
            <a:rect l="l" t="t" r="r" b="b"/>
            <a:pathLst>
              <a:path w="2647652" h="28575">
                <a:moveTo>
                  <a:pt x="100330" y="0"/>
                </a:moveTo>
                <a:lnTo>
                  <a:pt x="73797" y="3572"/>
                </a:lnTo>
                <a:lnTo>
                  <a:pt x="63149" y="7144"/>
                </a:lnTo>
                <a:lnTo>
                  <a:pt x="55215" y="10716"/>
                </a:lnTo>
                <a:lnTo>
                  <a:pt x="48727" y="14288"/>
                </a:lnTo>
                <a:lnTo>
                  <a:pt x="43192" y="17859"/>
                </a:lnTo>
                <a:lnTo>
                  <a:pt x="38353" y="21431"/>
                </a:lnTo>
                <a:lnTo>
                  <a:pt x="34058" y="25003"/>
                </a:lnTo>
                <a:lnTo>
                  <a:pt x="30206" y="28575"/>
                </a:lnTo>
                <a:lnTo>
                  <a:pt x="2617446" y="28575"/>
                </a:lnTo>
                <a:lnTo>
                  <a:pt x="2613594" y="25003"/>
                </a:lnTo>
                <a:lnTo>
                  <a:pt x="2609299" y="21431"/>
                </a:lnTo>
                <a:lnTo>
                  <a:pt x="2604460" y="17859"/>
                </a:lnTo>
                <a:lnTo>
                  <a:pt x="2598925" y="14288"/>
                </a:lnTo>
                <a:lnTo>
                  <a:pt x="2592438" y="10716"/>
                </a:lnTo>
                <a:lnTo>
                  <a:pt x="2584504" y="7144"/>
                </a:lnTo>
                <a:lnTo>
                  <a:pt x="2573855" y="3572"/>
                </a:lnTo>
                <a:lnTo>
                  <a:pt x="2547323" y="0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3405634" y="1355378"/>
            <a:ext cx="372070" cy="372070"/>
          </a:xfrm>
          <a:prstGeom prst="ellipse">
            <a:avLst/>
          </a:prstGeom>
          <a:solidFill>
            <a:srgbClr val="FEF3C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22166" y="1471910"/>
            <a:ext cx="139005" cy="13900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405634" y="1813768"/>
            <a:ext cx="2566005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Owner</a:t>
            </a:r>
            <a:endParaRPr lang="en-US" sz="1240" dirty="0"/>
          </a:p>
        </p:txBody>
      </p:sp>
      <p:sp>
        <p:nvSpPr>
          <p:cNvPr id="39" name="Text 31"/>
          <p:cNvSpPr/>
          <p:nvPr/>
        </p:nvSpPr>
        <p:spPr>
          <a:xfrm>
            <a:off x="3405634" y="2031802"/>
            <a:ext cx="1061267" cy="166985"/>
          </a:xfrm>
          <a:prstGeom prst="roundRect">
            <a:avLst>
              <a:gd name="adj" fmla="val 85942"/>
            </a:avLst>
          </a:prstGeom>
          <a:solidFill>
            <a:srgbClr val="FEF3C7"/>
          </a:solidFill>
          <a:ln/>
        </p:spPr>
        <p:txBody>
          <a:bodyPr wrap="none" lIns="153611" tIns="21590" rIns="71120" bIns="21590" rtlCol="0" anchor="ctr"/>
          <a:lstStyle/>
          <a:p>
            <a:pPr algn="l" indent="0" marL="0">
              <a:buNone/>
            </a:pPr>
            <a:r>
              <a:rPr lang="en-US" sz="650" b="1" spc="3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MAXIMIZER</a:t>
            </a:r>
            <a:endParaRPr lang="en-US" sz="65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36971" y="2049000"/>
            <a:ext cx="132588" cy="13258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3505944" y="2393007"/>
            <a:ext cx="1922458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and manages the Product Backlog</a:t>
            </a:r>
            <a:endParaRPr lang="en-US" sz="760" dirty="0"/>
          </a:p>
        </p:txBody>
      </p:sp>
      <p:sp>
        <p:nvSpPr>
          <p:cNvPr id="42" name="Text 33"/>
          <p:cNvSpPr/>
          <p:nvPr/>
        </p:nvSpPr>
        <p:spPr>
          <a:xfrm>
            <a:off x="3405634" y="2428429"/>
            <a:ext cx="43160" cy="43160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4"/>
          <p:cNvSpPr/>
          <p:nvPr/>
        </p:nvSpPr>
        <p:spPr>
          <a:xfrm>
            <a:off x="3505944" y="2577554"/>
            <a:ext cx="2105159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and communicates the Product Goal</a:t>
            </a:r>
            <a:endParaRPr lang="en-US" sz="760" dirty="0"/>
          </a:p>
        </p:txBody>
      </p:sp>
      <p:sp>
        <p:nvSpPr>
          <p:cNvPr id="44" name="Text 35"/>
          <p:cNvSpPr/>
          <p:nvPr/>
        </p:nvSpPr>
        <p:spPr>
          <a:xfrm>
            <a:off x="3405634" y="2612975"/>
            <a:ext cx="43160" cy="43160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6"/>
          <p:cNvSpPr/>
          <p:nvPr/>
        </p:nvSpPr>
        <p:spPr>
          <a:xfrm>
            <a:off x="3505944" y="2762101"/>
            <a:ext cx="2429307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backlog items by priority and business value</a:t>
            </a:r>
            <a:endParaRPr lang="en-US" sz="760" dirty="0"/>
          </a:p>
        </p:txBody>
      </p:sp>
      <p:sp>
        <p:nvSpPr>
          <p:cNvPr id="46" name="Text 37"/>
          <p:cNvSpPr/>
          <p:nvPr/>
        </p:nvSpPr>
        <p:spPr>
          <a:xfrm>
            <a:off x="3405634" y="2797522"/>
            <a:ext cx="43160" cy="43160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8"/>
          <p:cNvSpPr/>
          <p:nvPr/>
        </p:nvSpPr>
        <p:spPr>
          <a:xfrm>
            <a:off x="3505944" y="2946648"/>
            <a:ext cx="2356783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stakeholder needs to the Scrum Team</a:t>
            </a:r>
            <a:endParaRPr lang="en-US" sz="760" dirty="0"/>
          </a:p>
        </p:txBody>
      </p:sp>
      <p:sp>
        <p:nvSpPr>
          <p:cNvPr id="48" name="Text 39"/>
          <p:cNvSpPr/>
          <p:nvPr/>
        </p:nvSpPr>
        <p:spPr>
          <a:xfrm>
            <a:off x="3405634" y="2982069"/>
            <a:ext cx="43160" cy="43160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3505944" y="3131195"/>
            <a:ext cx="2305869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decision-maker on what gets built and when</a:t>
            </a:r>
            <a:endParaRPr lang="en-US" sz="760" dirty="0"/>
          </a:p>
        </p:txBody>
      </p:sp>
      <p:sp>
        <p:nvSpPr>
          <p:cNvPr id="50" name="Text 41"/>
          <p:cNvSpPr/>
          <p:nvPr/>
        </p:nvSpPr>
        <p:spPr>
          <a:xfrm>
            <a:off x="3405634" y="3166616"/>
            <a:ext cx="43160" cy="43160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6039296" y="1155353"/>
            <a:ext cx="2647504" cy="2524720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3510" dist="29210" dir="5400000">
              <a:srgbClr val="0d1b2a">
                <a:alpha val="9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6039296" y="1155353"/>
            <a:ext cx="2647504" cy="28575"/>
          </a:xfrm>
          <a:custGeom>
            <a:avLst/>
            <a:gdLst/>
            <a:ahLst/>
            <a:cxnLst/>
            <a:rect l="l" t="t" r="r" b="b"/>
            <a:pathLst>
              <a:path w="2647504" h="28575">
                <a:moveTo>
                  <a:pt x="100330" y="0"/>
                </a:moveTo>
                <a:lnTo>
                  <a:pt x="73797" y="3572"/>
                </a:lnTo>
                <a:lnTo>
                  <a:pt x="63149" y="7144"/>
                </a:lnTo>
                <a:lnTo>
                  <a:pt x="55215" y="10716"/>
                </a:lnTo>
                <a:lnTo>
                  <a:pt x="48727" y="14288"/>
                </a:lnTo>
                <a:lnTo>
                  <a:pt x="43192" y="17859"/>
                </a:lnTo>
                <a:lnTo>
                  <a:pt x="38353" y="21431"/>
                </a:lnTo>
                <a:lnTo>
                  <a:pt x="34058" y="25003"/>
                </a:lnTo>
                <a:lnTo>
                  <a:pt x="30206" y="28575"/>
                </a:lnTo>
                <a:lnTo>
                  <a:pt x="2617297" y="28575"/>
                </a:lnTo>
                <a:lnTo>
                  <a:pt x="2613446" y="25003"/>
                </a:lnTo>
                <a:lnTo>
                  <a:pt x="2609150" y="21431"/>
                </a:lnTo>
                <a:lnTo>
                  <a:pt x="2604311" y="17859"/>
                </a:lnTo>
                <a:lnTo>
                  <a:pt x="2598776" y="14288"/>
                </a:lnTo>
                <a:lnTo>
                  <a:pt x="2592289" y="10716"/>
                </a:lnTo>
                <a:lnTo>
                  <a:pt x="2584355" y="7144"/>
                </a:lnTo>
                <a:lnTo>
                  <a:pt x="2573706" y="3572"/>
                </a:lnTo>
                <a:lnTo>
                  <a:pt x="2547174" y="0"/>
                </a:lnTo>
                <a:close/>
              </a:path>
            </a:pathLst>
          </a:custGeom>
          <a:solidFill>
            <a:srgbClr val="0D1B2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6196757" y="1355378"/>
            <a:ext cx="372070" cy="37207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13289" y="1471910"/>
            <a:ext cx="139005" cy="139005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6196757" y="1813768"/>
            <a:ext cx="2565842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Developers</a:t>
            </a:r>
            <a:endParaRPr lang="en-US" sz="1240" dirty="0"/>
          </a:p>
        </p:txBody>
      </p:sp>
      <p:sp>
        <p:nvSpPr>
          <p:cNvPr id="56" name="Text 46"/>
          <p:cNvSpPr/>
          <p:nvPr/>
        </p:nvSpPr>
        <p:spPr>
          <a:xfrm>
            <a:off x="6196757" y="2031802"/>
            <a:ext cx="1127605" cy="166985"/>
          </a:xfrm>
          <a:prstGeom prst="roundRect">
            <a:avLst>
              <a:gd name="adj" fmla="val 85942"/>
            </a:avLst>
          </a:prstGeom>
          <a:solidFill>
            <a:srgbClr val="E8EDF3"/>
          </a:solidFill>
          <a:ln/>
        </p:spPr>
        <p:txBody>
          <a:bodyPr wrap="none" lIns="153611" tIns="21590" rIns="71120" bIns="21590" rtlCol="0" anchor="ctr"/>
          <a:lstStyle/>
          <a:p>
            <a:pPr algn="l" indent="0" marL="0">
              <a:buNone/>
            </a:pPr>
            <a:r>
              <a:rPr lang="en-US" sz="650" b="1" spc="30" kern="0" dirty="0">
                <a:solidFill>
                  <a:srgbClr val="1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OF DONE</a:t>
            </a:r>
            <a:endParaRPr lang="en-US" sz="65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28094" y="2049000"/>
            <a:ext cx="132588" cy="132588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6297067" y="2393007"/>
            <a:ext cx="1769224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Sprint Backlog and daily plan</a:t>
            </a:r>
            <a:endParaRPr lang="en-US" sz="760" dirty="0"/>
          </a:p>
        </p:txBody>
      </p:sp>
      <p:sp>
        <p:nvSpPr>
          <p:cNvPr id="59" name="Text 48"/>
          <p:cNvSpPr/>
          <p:nvPr/>
        </p:nvSpPr>
        <p:spPr>
          <a:xfrm>
            <a:off x="6196757" y="2428429"/>
            <a:ext cx="43160" cy="43160"/>
          </a:xfrm>
          <a:prstGeom prst="ellipse">
            <a:avLst/>
          </a:prstGeom>
          <a:solidFill>
            <a:srgbClr val="0D1B2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49"/>
          <p:cNvSpPr/>
          <p:nvPr/>
        </p:nvSpPr>
        <p:spPr>
          <a:xfrm>
            <a:off x="6297067" y="2577554"/>
            <a:ext cx="2276919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potentially shippable Increment each Sprint</a:t>
            </a:r>
            <a:endParaRPr lang="en-US" sz="760" dirty="0"/>
          </a:p>
        </p:txBody>
      </p:sp>
      <p:sp>
        <p:nvSpPr>
          <p:cNvPr id="61" name="Text 50"/>
          <p:cNvSpPr/>
          <p:nvPr/>
        </p:nvSpPr>
        <p:spPr>
          <a:xfrm>
            <a:off x="6196757" y="2612975"/>
            <a:ext cx="43160" cy="43160"/>
          </a:xfrm>
          <a:prstGeom prst="ellipse">
            <a:avLst/>
          </a:prstGeom>
          <a:solidFill>
            <a:srgbClr val="0D1B2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1"/>
          <p:cNvSpPr/>
          <p:nvPr/>
        </p:nvSpPr>
        <p:spPr>
          <a:xfrm>
            <a:off x="6297067" y="2897237"/>
            <a:ext cx="2052280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Adheres to the Definition of Done for quality</a:t>
            </a:r>
            <a:endParaRPr lang="en-US" sz="760" dirty="0"/>
          </a:p>
        </p:txBody>
      </p:sp>
      <p:sp>
        <p:nvSpPr>
          <p:cNvPr id="63" name="Text 52"/>
          <p:cNvSpPr/>
          <p:nvPr/>
        </p:nvSpPr>
        <p:spPr>
          <a:xfrm>
            <a:off x="6196757" y="2932658"/>
            <a:ext cx="43160" cy="43160"/>
          </a:xfrm>
          <a:prstGeom prst="ellipse">
            <a:avLst/>
          </a:prstGeom>
          <a:solidFill>
            <a:srgbClr val="0D1B2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3"/>
          <p:cNvSpPr/>
          <p:nvPr/>
        </p:nvSpPr>
        <p:spPr>
          <a:xfrm>
            <a:off x="6297067" y="3081784"/>
            <a:ext cx="2276919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Self-organizes: decides who does what, when, and how</a:t>
            </a:r>
            <a:endParaRPr lang="en-US" sz="760" dirty="0"/>
          </a:p>
        </p:txBody>
      </p:sp>
      <p:sp>
        <p:nvSpPr>
          <p:cNvPr id="65" name="Text 54"/>
          <p:cNvSpPr/>
          <p:nvPr/>
        </p:nvSpPr>
        <p:spPr>
          <a:xfrm>
            <a:off x="6196757" y="3117205"/>
            <a:ext cx="43160" cy="43160"/>
          </a:xfrm>
          <a:prstGeom prst="ellipse">
            <a:avLst/>
          </a:prstGeom>
          <a:solidFill>
            <a:srgbClr val="0D1B2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5"/>
          <p:cNvSpPr/>
          <p:nvPr/>
        </p:nvSpPr>
        <p:spPr>
          <a:xfrm>
            <a:off x="6297067" y="3401467"/>
            <a:ext cx="2199784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each other accountable as professionals</a:t>
            </a:r>
            <a:endParaRPr lang="en-US" sz="760" dirty="0"/>
          </a:p>
        </p:txBody>
      </p:sp>
      <p:sp>
        <p:nvSpPr>
          <p:cNvPr id="67" name="Text 56"/>
          <p:cNvSpPr/>
          <p:nvPr/>
        </p:nvSpPr>
        <p:spPr>
          <a:xfrm>
            <a:off x="6196757" y="3436888"/>
            <a:ext cx="43160" cy="43160"/>
          </a:xfrm>
          <a:prstGeom prst="ellipse">
            <a:avLst/>
          </a:prstGeom>
          <a:solidFill>
            <a:srgbClr val="0D1B2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57"/>
          <p:cNvSpPr/>
          <p:nvPr/>
        </p:nvSpPr>
        <p:spPr>
          <a:xfrm>
            <a:off x="0" y="4901059"/>
            <a:ext cx="9144000" cy="242441"/>
          </a:xfrm>
          <a:prstGeom prst="rect">
            <a:avLst/>
          </a:prstGeom>
          <a:solidFill>
            <a:srgbClr val="0D1B2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58"/>
          <p:cNvSpPr/>
          <p:nvPr/>
        </p:nvSpPr>
        <p:spPr>
          <a:xfrm>
            <a:off x="457200" y="4957465"/>
            <a:ext cx="258188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i="1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 &amp; Sutherland (2020). The Scrum Guide. Scrum.org</a:t>
            </a:r>
            <a:endParaRPr lang="en-US" sz="680" dirty="0"/>
          </a:p>
        </p:txBody>
      </p:sp>
      <p:sp>
        <p:nvSpPr>
          <p:cNvPr id="70" name="Text 59"/>
          <p:cNvSpPr/>
          <p:nvPr/>
        </p:nvSpPr>
        <p:spPr>
          <a:xfrm>
            <a:off x="8078837" y="4957465"/>
            <a:ext cx="66875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</a:t>
            </a:r>
            <a:endParaRPr lang="en-US" sz="680" dirty="0"/>
          </a:p>
        </p:txBody>
      </p:sp>
      <p:sp>
        <p:nvSpPr>
          <p:cNvPr id="71" name="Text 60"/>
          <p:cNvSpPr/>
          <p:nvPr/>
        </p:nvSpPr>
        <p:spPr>
          <a:xfrm>
            <a:off x="2604345" y="1183928"/>
            <a:ext cx="500360" cy="500360"/>
          </a:xfrm>
          <a:custGeom>
            <a:avLst/>
            <a:gdLst/>
            <a:ahLst/>
            <a:cxnLst/>
            <a:rect l="l" t="t" r="r" b="b"/>
            <a:pathLst>
              <a:path w="500360" h="500360">
                <a:moveTo>
                  <a:pt x="0" y="0"/>
                </a:moveTo>
                <a:lnTo>
                  <a:pt x="400030" y="0"/>
                </a:lnTo>
                <a:lnTo>
                  <a:pt x="400030" y="0"/>
                </a:lnTo>
                <a:lnTo>
                  <a:pt x="419603" y="1928"/>
                </a:lnTo>
                <a:lnTo>
                  <a:pt x="438425" y="7637"/>
                </a:lnTo>
                <a:lnTo>
                  <a:pt x="455770" y="16909"/>
                </a:lnTo>
                <a:lnTo>
                  <a:pt x="470974" y="29386"/>
                </a:lnTo>
                <a:lnTo>
                  <a:pt x="483451" y="44589"/>
                </a:lnTo>
                <a:lnTo>
                  <a:pt x="492723" y="61935"/>
                </a:lnTo>
                <a:lnTo>
                  <a:pt x="498432" y="80756"/>
                </a:lnTo>
                <a:lnTo>
                  <a:pt x="500360" y="100330"/>
                </a:lnTo>
                <a:lnTo>
                  <a:pt x="500360" y="500360"/>
                </a:lnTo>
                <a:lnTo>
                  <a:pt x="500380" y="500360"/>
                </a:lnTo>
                <a:lnTo>
                  <a:pt x="0" y="0"/>
                </a:lnTo>
                <a:lnTo>
                  <a:pt x="9615" y="97599"/>
                </a:lnTo>
                <a:lnTo>
                  <a:pt x="38089" y="191467"/>
                </a:lnTo>
                <a:lnTo>
                  <a:pt x="84329" y="277976"/>
                </a:lnTo>
                <a:lnTo>
                  <a:pt x="146558" y="353802"/>
                </a:lnTo>
                <a:lnTo>
                  <a:pt x="222384" y="416030"/>
                </a:lnTo>
                <a:lnTo>
                  <a:pt x="308893" y="462271"/>
                </a:lnTo>
                <a:lnTo>
                  <a:pt x="402760" y="490745"/>
                </a:lnTo>
                <a:lnTo>
                  <a:pt x="500360" y="500360"/>
                </a:lnTo>
                <a:close/>
              </a:path>
            </a:pathLst>
          </a:custGeom>
          <a:solidFill>
            <a:srgbClr val="1FB8CD">
              <a:alpha val="7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1"/>
          <p:cNvSpPr/>
          <p:nvPr/>
        </p:nvSpPr>
        <p:spPr>
          <a:xfrm>
            <a:off x="5395471" y="1183928"/>
            <a:ext cx="500360" cy="500360"/>
          </a:xfrm>
          <a:custGeom>
            <a:avLst/>
            <a:gdLst/>
            <a:ahLst/>
            <a:cxnLst/>
            <a:rect l="l" t="t" r="r" b="b"/>
            <a:pathLst>
              <a:path w="500360" h="500360">
                <a:moveTo>
                  <a:pt x="0" y="0"/>
                </a:moveTo>
                <a:lnTo>
                  <a:pt x="400030" y="0"/>
                </a:lnTo>
                <a:lnTo>
                  <a:pt x="400030" y="0"/>
                </a:lnTo>
                <a:lnTo>
                  <a:pt x="419603" y="1928"/>
                </a:lnTo>
                <a:lnTo>
                  <a:pt x="438425" y="7637"/>
                </a:lnTo>
                <a:lnTo>
                  <a:pt x="455770" y="16909"/>
                </a:lnTo>
                <a:lnTo>
                  <a:pt x="470974" y="29386"/>
                </a:lnTo>
                <a:lnTo>
                  <a:pt x="483451" y="44589"/>
                </a:lnTo>
                <a:lnTo>
                  <a:pt x="492723" y="61935"/>
                </a:lnTo>
                <a:lnTo>
                  <a:pt x="498432" y="80756"/>
                </a:lnTo>
                <a:lnTo>
                  <a:pt x="500360" y="100330"/>
                </a:lnTo>
                <a:lnTo>
                  <a:pt x="500360" y="500360"/>
                </a:lnTo>
                <a:lnTo>
                  <a:pt x="500380" y="500360"/>
                </a:lnTo>
                <a:lnTo>
                  <a:pt x="0" y="0"/>
                </a:lnTo>
                <a:lnTo>
                  <a:pt x="9615" y="97599"/>
                </a:lnTo>
                <a:lnTo>
                  <a:pt x="38089" y="191467"/>
                </a:lnTo>
                <a:lnTo>
                  <a:pt x="84329" y="277976"/>
                </a:lnTo>
                <a:lnTo>
                  <a:pt x="146558" y="353802"/>
                </a:lnTo>
                <a:lnTo>
                  <a:pt x="222384" y="416030"/>
                </a:lnTo>
                <a:lnTo>
                  <a:pt x="308893" y="462271"/>
                </a:lnTo>
                <a:lnTo>
                  <a:pt x="402760" y="490745"/>
                </a:lnTo>
                <a:lnTo>
                  <a:pt x="500360" y="500360"/>
                </a:lnTo>
                <a:close/>
              </a:path>
            </a:pathLst>
          </a:custGeom>
          <a:solidFill>
            <a:srgbClr val="D97706">
              <a:alpha val="7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2"/>
          <p:cNvSpPr/>
          <p:nvPr/>
        </p:nvSpPr>
        <p:spPr>
          <a:xfrm>
            <a:off x="8186441" y="1183928"/>
            <a:ext cx="500360" cy="500360"/>
          </a:xfrm>
          <a:custGeom>
            <a:avLst/>
            <a:gdLst/>
            <a:ahLst/>
            <a:cxnLst/>
            <a:rect l="l" t="t" r="r" b="b"/>
            <a:pathLst>
              <a:path w="500360" h="500360">
                <a:moveTo>
                  <a:pt x="0" y="0"/>
                </a:moveTo>
                <a:lnTo>
                  <a:pt x="400030" y="0"/>
                </a:lnTo>
                <a:lnTo>
                  <a:pt x="400030" y="0"/>
                </a:lnTo>
                <a:lnTo>
                  <a:pt x="419603" y="1928"/>
                </a:lnTo>
                <a:lnTo>
                  <a:pt x="438425" y="7637"/>
                </a:lnTo>
                <a:lnTo>
                  <a:pt x="455770" y="16909"/>
                </a:lnTo>
                <a:lnTo>
                  <a:pt x="470974" y="29386"/>
                </a:lnTo>
                <a:lnTo>
                  <a:pt x="483451" y="44589"/>
                </a:lnTo>
                <a:lnTo>
                  <a:pt x="492723" y="61935"/>
                </a:lnTo>
                <a:lnTo>
                  <a:pt x="498432" y="80756"/>
                </a:lnTo>
                <a:lnTo>
                  <a:pt x="500360" y="100330"/>
                </a:lnTo>
                <a:lnTo>
                  <a:pt x="500360" y="500360"/>
                </a:lnTo>
                <a:lnTo>
                  <a:pt x="500380" y="500360"/>
                </a:lnTo>
                <a:lnTo>
                  <a:pt x="0" y="0"/>
                </a:lnTo>
                <a:lnTo>
                  <a:pt x="9615" y="97599"/>
                </a:lnTo>
                <a:lnTo>
                  <a:pt x="38089" y="191467"/>
                </a:lnTo>
                <a:lnTo>
                  <a:pt x="84329" y="277976"/>
                </a:lnTo>
                <a:lnTo>
                  <a:pt x="146558" y="353802"/>
                </a:lnTo>
                <a:lnTo>
                  <a:pt x="222384" y="416030"/>
                </a:lnTo>
                <a:lnTo>
                  <a:pt x="308893" y="462271"/>
                </a:lnTo>
                <a:lnTo>
                  <a:pt x="402760" y="490745"/>
                </a:lnTo>
                <a:lnTo>
                  <a:pt x="500360" y="500360"/>
                </a:lnTo>
                <a:close/>
              </a:path>
            </a:pathLst>
          </a:custGeom>
          <a:solidFill>
            <a:srgbClr val="0D1B2A">
              <a:alpha val="7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FB8C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FB8C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1FB8CD"/>
              </a:gs>
              <a:gs pos="60000">
                <a:srgbClr val="1FB8CD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gradFill rotWithShape="1">
            <a:gsLst>
              <a:gs pos="0">
                <a:srgbClr val="1FB8CD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50000" r="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87220" y="0"/>
            <a:ext cx="1856780" cy="1714500"/>
          </a:xfrm>
          <a:prstGeom prst="ellipse">
            <a:avLst/>
          </a:prstGeom>
          <a:gradFill rotWithShape="1">
            <a:gsLst>
              <a:gs pos="0">
                <a:srgbClr val="1FB8CD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1FB8CD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42559" y="3285530"/>
            <a:ext cx="1286470" cy="1286470"/>
          </a:xfrm>
          <a:prstGeom prst="ellipse">
            <a:avLst/>
          </a:prstGeom>
          <a:gradFill rotWithShape="1">
            <a:gsLst>
              <a:gs pos="0">
                <a:srgbClr val="1FB8CD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1FB8CD">
                <a:alpha val="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512120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spcAft>
                <a:spcPts val="340"/>
              </a:spcAft>
              <a:buNone/>
            </a:pPr>
            <a:r>
              <a:rPr lang="en-US" sz="620" b="1" spc="14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SDLC PHASES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457200" y="389781"/>
            <a:ext cx="4981536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1"/>
              </a:lnSpc>
              <a:spcAft>
                <a:spcPts val="230"/>
              </a:spcAft>
              <a:buNone/>
            </a:pPr>
            <a:r>
              <a:rPr lang="en-US" sz="1910" spc="-2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Agile SDLC: </a:t>
            </a:r>
            <a:pPr algn="l" indent="0" marL="0">
              <a:lnSpc>
                <a:spcPts val="2101"/>
              </a:lnSpc>
              <a:spcAft>
                <a:spcPts val="230"/>
              </a:spcAft>
              <a:buNone/>
            </a:pPr>
            <a:r>
              <a:rPr lang="en-US" sz="1910" spc="-20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Sprint-Based Development</a:t>
            </a:r>
            <a:endParaRPr lang="en-US" sz="1910" dirty="0"/>
          </a:p>
        </p:txBody>
      </p:sp>
      <p:sp>
        <p:nvSpPr>
          <p:cNvPr id="10" name="Text 8"/>
          <p:cNvSpPr/>
          <p:nvPr/>
        </p:nvSpPr>
        <p:spPr>
          <a:xfrm>
            <a:off x="457200" y="685800"/>
            <a:ext cx="512120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spc="10" kern="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is a mini-project that delivers real, working software.</a:t>
            </a:r>
            <a:endParaRPr lang="en-US" sz="8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5082" y="691316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88337" y="698599"/>
            <a:ext cx="87830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CYCLE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457200" y="946100"/>
            <a:ext cx="8229600" cy="7590"/>
          </a:xfrm>
          <a:prstGeom prst="rect">
            <a:avLst/>
          </a:prstGeom>
          <a:gradFill rotWithShape="1">
            <a:gsLst>
              <a:gs pos="0">
                <a:srgbClr val="1FB8CD"/>
              </a:gs>
              <a:gs pos="40000">
                <a:srgbClr val="1FB8CD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57200" y="1081832"/>
            <a:ext cx="1525488" cy="3410396"/>
          </a:xfrm>
          <a:prstGeom prst="roundRect">
            <a:avLst>
              <a:gd name="adj" fmla="val 3746"/>
            </a:avLst>
          </a:prstGeom>
          <a:solidFill>
            <a:srgbClr val="162236"/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67035" y="1205657"/>
            <a:ext cx="200620" cy="220682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567035" y="1477268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FB8CD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542" y="1553775"/>
            <a:ext cx="132588" cy="132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7035" y="1834009"/>
            <a:ext cx="801073" cy="24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60" b="1" spc="1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Backlog</a:t>
            </a:r>
            <a:br/>
            <a:pPr algn="l" indent="0" marL="0">
              <a:lnSpc>
                <a:spcPts val="912"/>
              </a:lnSpc>
              <a:buNone/>
            </a:pPr>
            <a:r>
              <a:rPr lang="en-US" sz="760" b="1" spc="1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Refinement</a:t>
            </a:r>
            <a:endParaRPr lang="en-US" sz="760" dirty="0"/>
          </a:p>
        </p:txBody>
      </p:sp>
      <p:sp>
        <p:nvSpPr>
          <p:cNvPr id="19" name="Text 15"/>
          <p:cNvSpPr/>
          <p:nvPr/>
        </p:nvSpPr>
        <p:spPr>
          <a:xfrm>
            <a:off x="567035" y="2122736"/>
            <a:ext cx="1331934" cy="54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prioritizes and clarifies backlog items; team estimates effort and ensures readiness for upcoming Sprints.</a:t>
            </a:r>
            <a:endParaRPr lang="en-US" sz="680" dirty="0"/>
          </a:p>
        </p:txBody>
      </p:sp>
      <p:sp>
        <p:nvSpPr>
          <p:cNvPr id="20" name="Text 16"/>
          <p:cNvSpPr/>
          <p:nvPr/>
        </p:nvSpPr>
        <p:spPr>
          <a:xfrm>
            <a:off x="567035" y="4223445"/>
            <a:ext cx="527218" cy="158948"/>
          </a:xfrm>
          <a:prstGeom prst="roundRect">
            <a:avLst>
              <a:gd name="adj" fmla="val 18377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0000"/>
              </a:srgbClr>
            </a:solidFill>
          </a:ln>
        </p:spPr>
        <p:txBody>
          <a:bodyPr wrap="none" lIns="132021" tIns="13970" rIns="49530" bIns="13970" rtlCol="0" anchor="ctr"/>
          <a:lstStyle/>
          <a:p>
            <a:pPr algn="l" indent="0" marL="0">
              <a:buNone/>
            </a:pPr>
            <a:r>
              <a:rPr lang="en-US" sz="590" b="1" spc="1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59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6317" y="4236625"/>
            <a:ext cx="132588" cy="132588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alphaModFix amt="8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82688" y="2768947"/>
            <a:ext cx="150465" cy="1504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133154" y="1081832"/>
            <a:ext cx="1525637" cy="3410396"/>
          </a:xfrm>
          <a:prstGeom prst="roundRect">
            <a:avLst>
              <a:gd name="adj" fmla="val 3746"/>
            </a:avLst>
          </a:prstGeom>
          <a:solidFill>
            <a:srgbClr val="162236"/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2242989" y="1205657"/>
            <a:ext cx="200620" cy="220682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25" name="Text 19"/>
          <p:cNvSpPr/>
          <p:nvPr/>
        </p:nvSpPr>
        <p:spPr>
          <a:xfrm>
            <a:off x="2242989" y="1477268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FB8CD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19495" y="1553775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42989" y="1834009"/>
            <a:ext cx="804803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60" b="1" spc="1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Sprint Planning</a:t>
            </a:r>
            <a:endParaRPr lang="en-US" sz="760" dirty="0"/>
          </a:p>
        </p:txBody>
      </p:sp>
      <p:sp>
        <p:nvSpPr>
          <p:cNvPr id="28" name="Text 21"/>
          <p:cNvSpPr/>
          <p:nvPr/>
        </p:nvSpPr>
        <p:spPr>
          <a:xfrm>
            <a:off x="2242989" y="2006947"/>
            <a:ext cx="1332086" cy="54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selects backlog items; defines Sprint Goal and Sprint Backlog — a plan for the next iteration.</a:t>
            </a:r>
            <a:endParaRPr lang="en-US" sz="680" dirty="0"/>
          </a:p>
        </p:txBody>
      </p:sp>
      <p:sp>
        <p:nvSpPr>
          <p:cNvPr id="29" name="Text 22"/>
          <p:cNvSpPr/>
          <p:nvPr/>
        </p:nvSpPr>
        <p:spPr>
          <a:xfrm>
            <a:off x="2242989" y="4223445"/>
            <a:ext cx="700579" cy="158948"/>
          </a:xfrm>
          <a:prstGeom prst="roundRect">
            <a:avLst>
              <a:gd name="adj" fmla="val 18377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0000"/>
              </a:srgbClr>
            </a:solidFill>
          </a:ln>
        </p:spPr>
        <p:txBody>
          <a:bodyPr wrap="none" lIns="132021" tIns="13970" rIns="49530" bIns="13970" rtlCol="0" anchor="ctr"/>
          <a:lstStyle/>
          <a:p>
            <a:pPr algn="l" indent="0" marL="0">
              <a:buNone/>
            </a:pPr>
            <a:r>
              <a:rPr lang="en-US" sz="590" b="1" spc="1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 / month</a:t>
            </a:r>
            <a:endParaRPr lang="en-US" sz="59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62271" y="4236625"/>
            <a:ext cx="132588" cy="132588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alphaModFix amt="8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58791" y="2768947"/>
            <a:ext cx="150465" cy="15046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809256" y="1081832"/>
            <a:ext cx="1525488" cy="3410396"/>
          </a:xfrm>
          <a:prstGeom prst="roundRect">
            <a:avLst>
              <a:gd name="adj" fmla="val 3746"/>
            </a:avLst>
          </a:prstGeom>
          <a:solidFill>
            <a:srgbClr val="162236"/>
          </a:solidFill>
          <a:ln w="9525">
            <a:solidFill>
              <a:srgbClr val="25D4EB">
                <a:alpha val="35000"/>
              </a:srgbClr>
            </a:solidFill>
          </a:ln>
          <a:effectLst>
            <a:outerShdw sx="100000" sy="100000" kx="0" ky="0" algn="bl" rotWithShape="0" blurRad="128270" dist="50800" dir="16200000">
              <a:srgbClr val="1fb8cd">
                <a:alpha val="1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4"/>
          <p:cNvSpPr/>
          <p:nvPr/>
        </p:nvSpPr>
        <p:spPr>
          <a:xfrm>
            <a:off x="3919091" y="1205657"/>
            <a:ext cx="200620" cy="220682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34" name="Text 25"/>
          <p:cNvSpPr/>
          <p:nvPr/>
        </p:nvSpPr>
        <p:spPr>
          <a:xfrm>
            <a:off x="3919091" y="1477268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FB8CD">
              <a:alpha val="2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95598" y="1553775"/>
            <a:ext cx="132588" cy="13258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919091" y="1834009"/>
            <a:ext cx="903390" cy="24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60" b="1" spc="1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Sprint Execution &amp;</a:t>
            </a:r>
            <a:br/>
            <a:pPr algn="l" indent="0" marL="0">
              <a:lnSpc>
                <a:spcPts val="912"/>
              </a:lnSpc>
              <a:buNone/>
            </a:pPr>
            <a:r>
              <a:rPr lang="en-US" sz="760" b="1" spc="1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Scrum</a:t>
            </a:r>
            <a:endParaRPr lang="en-US" sz="760" dirty="0"/>
          </a:p>
        </p:txBody>
      </p:sp>
      <p:sp>
        <p:nvSpPr>
          <p:cNvPr id="37" name="Text 27"/>
          <p:cNvSpPr/>
          <p:nvPr/>
        </p:nvSpPr>
        <p:spPr>
          <a:xfrm>
            <a:off x="3919091" y="2122736"/>
            <a:ext cx="1331934" cy="54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build the Increment; 15-min daily sync to inspect progress toward Sprint Goal and remove blockers.</a:t>
            </a:r>
            <a:endParaRPr lang="en-US" sz="680" dirty="0"/>
          </a:p>
        </p:txBody>
      </p:sp>
      <p:sp>
        <p:nvSpPr>
          <p:cNvPr id="38" name="Text 28"/>
          <p:cNvSpPr/>
          <p:nvPr/>
        </p:nvSpPr>
        <p:spPr>
          <a:xfrm>
            <a:off x="3919091" y="4223445"/>
            <a:ext cx="657011" cy="158948"/>
          </a:xfrm>
          <a:prstGeom prst="roundRect">
            <a:avLst>
              <a:gd name="adj" fmla="val 18377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0000"/>
              </a:srgbClr>
            </a:solidFill>
          </a:ln>
        </p:spPr>
        <p:txBody>
          <a:bodyPr wrap="none" lIns="132021" tIns="13970" rIns="49530" bIns="13970" rtlCol="0" anchor="ctr"/>
          <a:lstStyle/>
          <a:p>
            <a:pPr algn="l" indent="0" marL="0">
              <a:buNone/>
            </a:pPr>
            <a:r>
              <a:rPr lang="en-US" sz="590" b="1" spc="1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/ day</a:t>
            </a:r>
            <a:endParaRPr lang="en-US" sz="59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38373" y="4236625"/>
            <a:ext cx="132588" cy="132588"/>
          </a:xfrm>
          <a:prstGeom prst="rect">
            <a:avLst/>
          </a:prstGeom>
        </p:spPr>
      </p:pic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9">
            <a:alphaModFix amt="80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34744" y="2768947"/>
            <a:ext cx="150465" cy="150465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485209" y="1081832"/>
            <a:ext cx="1525637" cy="3410396"/>
          </a:xfrm>
          <a:prstGeom prst="roundRect">
            <a:avLst>
              <a:gd name="adj" fmla="val 3746"/>
            </a:avLst>
          </a:prstGeom>
          <a:solidFill>
            <a:srgbClr val="162236"/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0"/>
          <p:cNvSpPr/>
          <p:nvPr/>
        </p:nvSpPr>
        <p:spPr>
          <a:xfrm>
            <a:off x="5595045" y="1205657"/>
            <a:ext cx="200620" cy="220682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43" name="Text 31"/>
          <p:cNvSpPr/>
          <p:nvPr/>
        </p:nvSpPr>
        <p:spPr>
          <a:xfrm>
            <a:off x="5595045" y="1477268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FB8CD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71551" y="1553775"/>
            <a:ext cx="132588" cy="132588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5595045" y="1834009"/>
            <a:ext cx="719837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60" b="1" spc="1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Sprint Review</a:t>
            </a:r>
            <a:endParaRPr lang="en-US" sz="760" dirty="0"/>
          </a:p>
        </p:txBody>
      </p:sp>
      <p:sp>
        <p:nvSpPr>
          <p:cNvPr id="46" name="Text 33"/>
          <p:cNvSpPr/>
          <p:nvPr/>
        </p:nvSpPr>
        <p:spPr>
          <a:xfrm>
            <a:off x="5595045" y="2006947"/>
            <a:ext cx="1332086" cy="54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demos completed work to stakeholders; inspect Increment and adapt Product Backlog based on feedback.</a:t>
            </a:r>
            <a:endParaRPr lang="en-US" sz="680" dirty="0"/>
          </a:p>
        </p:txBody>
      </p:sp>
      <p:sp>
        <p:nvSpPr>
          <p:cNvPr id="47" name="Text 34"/>
          <p:cNvSpPr/>
          <p:nvPr/>
        </p:nvSpPr>
        <p:spPr>
          <a:xfrm>
            <a:off x="5595045" y="4223445"/>
            <a:ext cx="700579" cy="158948"/>
          </a:xfrm>
          <a:prstGeom prst="roundRect">
            <a:avLst>
              <a:gd name="adj" fmla="val 18377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0000"/>
              </a:srgbClr>
            </a:solidFill>
          </a:ln>
        </p:spPr>
        <p:txBody>
          <a:bodyPr wrap="none" lIns="132021" tIns="13970" rIns="49530" bIns="13970" rtlCol="0" anchor="ctr"/>
          <a:lstStyle/>
          <a:p>
            <a:pPr algn="l" indent="0" marL="0">
              <a:buNone/>
            </a:pPr>
            <a:r>
              <a:rPr lang="en-US" sz="590" b="1" spc="1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 / month</a:t>
            </a:r>
            <a:endParaRPr lang="en-US" sz="59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614327" y="4236625"/>
            <a:ext cx="132588" cy="132588"/>
          </a:xfrm>
          <a:prstGeom prst="rect">
            <a:avLst/>
          </a:prstGeom>
        </p:spPr>
      </p:pic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25">
            <a:alphaModFix amt="80000"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10846" y="2768947"/>
            <a:ext cx="150465" cy="150465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7161312" y="1081832"/>
            <a:ext cx="1525488" cy="3410396"/>
          </a:xfrm>
          <a:prstGeom prst="roundRect">
            <a:avLst>
              <a:gd name="adj" fmla="val 3746"/>
            </a:avLst>
          </a:prstGeom>
          <a:solidFill>
            <a:srgbClr val="162236"/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36"/>
          <p:cNvSpPr/>
          <p:nvPr/>
        </p:nvSpPr>
        <p:spPr>
          <a:xfrm>
            <a:off x="7271147" y="1205657"/>
            <a:ext cx="200620" cy="220682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30" dirty="0"/>
          </a:p>
        </p:txBody>
      </p:sp>
      <p:sp>
        <p:nvSpPr>
          <p:cNvPr id="52" name="Text 37"/>
          <p:cNvSpPr/>
          <p:nvPr/>
        </p:nvSpPr>
        <p:spPr>
          <a:xfrm>
            <a:off x="7271147" y="1477268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FB8CD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347653" y="1553775"/>
            <a:ext cx="132588" cy="132588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7271147" y="1834009"/>
            <a:ext cx="1065594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60" b="1" spc="1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Sprint Retrospective</a:t>
            </a:r>
            <a:endParaRPr lang="en-US" sz="760" dirty="0"/>
          </a:p>
        </p:txBody>
      </p:sp>
      <p:sp>
        <p:nvSpPr>
          <p:cNvPr id="55" name="Text 39"/>
          <p:cNvSpPr/>
          <p:nvPr/>
        </p:nvSpPr>
        <p:spPr>
          <a:xfrm>
            <a:off x="7271147" y="2006947"/>
            <a:ext cx="1331934" cy="67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reflects on process, practices, and collaboration; creates an actionable improvement plan for the next Sprint.</a:t>
            </a:r>
            <a:endParaRPr lang="en-US" sz="680" dirty="0"/>
          </a:p>
        </p:txBody>
      </p:sp>
      <p:sp>
        <p:nvSpPr>
          <p:cNvPr id="56" name="Text 40"/>
          <p:cNvSpPr/>
          <p:nvPr/>
        </p:nvSpPr>
        <p:spPr>
          <a:xfrm>
            <a:off x="7271147" y="4223445"/>
            <a:ext cx="700579" cy="158948"/>
          </a:xfrm>
          <a:prstGeom prst="roundRect">
            <a:avLst>
              <a:gd name="adj" fmla="val 18377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0000"/>
              </a:srgbClr>
            </a:solidFill>
          </a:ln>
        </p:spPr>
        <p:txBody>
          <a:bodyPr wrap="none" lIns="132021" tIns="13970" rIns="49530" bIns="13970" rtlCol="0" anchor="ctr"/>
          <a:lstStyle/>
          <a:p>
            <a:pPr algn="l" indent="0" marL="0">
              <a:buNone/>
            </a:pPr>
            <a:r>
              <a:rPr lang="en-US" sz="590" b="1" spc="1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 / month</a:t>
            </a:r>
            <a:endParaRPr lang="en-US" sz="59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290429" y="4236625"/>
            <a:ext cx="132588" cy="132588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457200" y="4592538"/>
            <a:ext cx="8229600" cy="450652"/>
          </a:xfrm>
          <a:prstGeom prst="roundRect">
            <a:avLst>
              <a:gd name="adj" fmla="val 12682"/>
            </a:avLst>
          </a:prstGeom>
          <a:gradFill rotWithShape="1">
            <a:gsLst>
              <a:gs pos="0">
                <a:srgbClr val="1FB8CD">
                  <a:alpha val="18000"/>
                </a:srgbClr>
              </a:gs>
              <a:gs pos="100000">
                <a:srgbClr val="1FB8CD">
                  <a:alpha val="8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2"/>
          <p:cNvSpPr/>
          <p:nvPr/>
        </p:nvSpPr>
        <p:spPr>
          <a:xfrm>
            <a:off x="457200" y="4592538"/>
            <a:ext cx="28575" cy="450652"/>
          </a:xfrm>
          <a:custGeom>
            <a:avLst/>
            <a:gdLst/>
            <a:ahLst/>
            <a:cxnLst/>
            <a:rect l="l" t="t" r="r" b="b"/>
            <a:pathLst>
              <a:path w="28575" h="450652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442995"/>
                </a:lnTo>
                <a:lnTo>
                  <a:pt x="25003" y="440753"/>
                </a:lnTo>
                <a:lnTo>
                  <a:pt x="21431" y="438114"/>
                </a:lnTo>
                <a:lnTo>
                  <a:pt x="17859" y="435003"/>
                </a:lnTo>
                <a:lnTo>
                  <a:pt x="14288" y="431303"/>
                </a:lnTo>
                <a:lnTo>
                  <a:pt x="10716" y="426818"/>
                </a:lnTo>
                <a:lnTo>
                  <a:pt x="7144" y="421169"/>
                </a:lnTo>
                <a:lnTo>
                  <a:pt x="3572" y="413389"/>
                </a:lnTo>
                <a:lnTo>
                  <a:pt x="0" y="393502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16753" y="4751496"/>
            <a:ext cx="132588" cy="132588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823168" y="4673054"/>
            <a:ext cx="5962281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spc="1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Duration:</a:t>
            </a:r>
            <a:pPr algn="l" indent="0" marL="0">
              <a:lnSpc>
                <a:spcPts val="1140"/>
              </a:lnSpc>
              <a:buNone/>
            </a:pPr>
            <a:r>
              <a:rPr lang="en-US" sz="760" spc="10" kern="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1–4 weeks (typically 2 weeks) → All five events occur </a:t>
            </a:r>
            <a:pPr algn="l" indent="0" marL="0">
              <a:lnSpc>
                <a:spcPts val="1140"/>
              </a:lnSpc>
              <a:buNone/>
            </a:pPr>
            <a:r>
              <a:rPr lang="en-US" sz="760" i="1" spc="10" kern="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</a:t>
            </a:r>
            <a:pPr algn="l" indent="0" marL="0">
              <a:lnSpc>
                <a:spcPts val="1140"/>
              </a:lnSpc>
              <a:buNone/>
            </a:pPr>
            <a:r>
              <a:rPr lang="en-US" sz="760" spc="10" kern="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Sprint → </a:t>
            </a:r>
            <a:pPr algn="l" indent="0" marL="0">
              <a:lnSpc>
                <a:spcPts val="1140"/>
              </a:lnSpc>
              <a:buNone/>
            </a:pPr>
            <a:r>
              <a:rPr lang="en-US" sz="760" b="1" spc="1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Sprint is the container, not just an event</a:t>
            </a:r>
            <a:endParaRPr lang="en-US" sz="760" dirty="0"/>
          </a:p>
        </p:txBody>
      </p:sp>
      <p:sp>
        <p:nvSpPr>
          <p:cNvPr id="62" name="Text 44"/>
          <p:cNvSpPr/>
          <p:nvPr/>
        </p:nvSpPr>
        <p:spPr>
          <a:xfrm>
            <a:off x="6754862" y="4717256"/>
            <a:ext cx="1814521" cy="201216"/>
          </a:xfrm>
          <a:prstGeom prst="roundRect">
            <a:avLst>
              <a:gd name="adj" fmla="val 71322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25000"/>
              </a:srgbClr>
            </a:solidFill>
          </a:ln>
        </p:spPr>
        <p:txBody>
          <a:bodyPr wrap="none" lIns="199043" tIns="29210" rIns="86360" bIns="29210" rtlCol="0" anchor="ctr"/>
          <a:lstStyle/>
          <a:p>
            <a:pPr algn="l" indent="0" marL="0">
              <a:buNone/>
            </a:pPr>
            <a:r>
              <a:rPr lang="en-US" sz="650" b="1" spc="2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Product Goal achieved</a:t>
            </a:r>
            <a:endParaRPr lang="en-US" sz="65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819165" y="4751496"/>
            <a:ext cx="132588" cy="132588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457200" y="4922341"/>
            <a:ext cx="2265596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85"/>
              </a:lnSpc>
              <a:buNone/>
            </a:pPr>
            <a:r>
              <a:rPr lang="en-US" sz="590" i="1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 &amp; Sutherland (2020). The Scrum Guide. Scrum.org.</a:t>
            </a:r>
            <a:endParaRPr lang="en-US" sz="590" dirty="0"/>
          </a:p>
        </p:txBody>
      </p:sp>
      <p:sp>
        <p:nvSpPr>
          <p:cNvPr id="65" name="Text 46"/>
          <p:cNvSpPr/>
          <p:nvPr/>
        </p:nvSpPr>
        <p:spPr>
          <a:xfrm>
            <a:off x="8055918" y="4913709"/>
            <a:ext cx="69397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CHADATECH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497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88553"/>
            <a:ext cx="4225436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65"/>
              </a:lnSpc>
              <a:buNone/>
            </a:pPr>
            <a:r>
              <a:rPr lang="en-US" sz="1910" spc="2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Inside a 2-Week Sprint: Day-by-Day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400050" y="466279"/>
            <a:ext cx="434390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spc="1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time-boxed cadence that drives consistent delivery.</a:t>
            </a:r>
            <a:endParaRPr lang="en-US" sz="84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172" y="175096"/>
            <a:ext cx="364778" cy="3647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72004" y="525959"/>
            <a:ext cx="62914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70" kern="0" dirty="0">
                <a:solidFill>
                  <a:srgbClr val="1FB8CD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</a:t>
            </a:r>
            <a:endParaRPr lang="en-US" sz="620" dirty="0"/>
          </a:p>
        </p:txBody>
      </p:sp>
      <p:sp>
        <p:nvSpPr>
          <p:cNvPr id="7" name="Text 4"/>
          <p:cNvSpPr/>
          <p:nvPr/>
        </p:nvSpPr>
        <p:spPr>
          <a:xfrm>
            <a:off x="4565079" y="843111"/>
            <a:ext cx="13841" cy="3385989"/>
          </a:xfrm>
          <a:prstGeom prst="rect">
            <a:avLst/>
          </a:prstGeom>
          <a:gradFill rotWithShape="1">
            <a:gsLst>
              <a:gs pos="0">
                <a:srgbClr val="1FB8CD"/>
              </a:gs>
              <a:gs pos="100000">
                <a:srgbClr val="CCDDE8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0" y="4358729"/>
            <a:ext cx="9144000" cy="356741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60000">
                <a:srgbClr val="162D40"/>
              </a:gs>
              <a:gs pos="100000">
                <a:srgbClr val="0E8FA0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9764" y="4470806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36180" y="4472285"/>
            <a:ext cx="164807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OF EVERY SPRINT:</a:t>
            </a:r>
            <a:endParaRPr lang="en-US" sz="680" dirty="0"/>
          </a:p>
        </p:txBody>
      </p:sp>
      <p:sp>
        <p:nvSpPr>
          <p:cNvPr id="11" name="Text 7"/>
          <p:cNvSpPr/>
          <p:nvPr/>
        </p:nvSpPr>
        <p:spPr>
          <a:xfrm>
            <a:off x="4120753" y="4457105"/>
            <a:ext cx="294908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usable, potentially shippable product Increment.</a:t>
            </a:r>
            <a:endParaRPr lang="en-US" sz="840" dirty="0"/>
          </a:p>
        </p:txBody>
      </p:sp>
      <p:sp>
        <p:nvSpPr>
          <p:cNvPr id="12" name="Text 8"/>
          <p:cNvSpPr/>
          <p:nvPr/>
        </p:nvSpPr>
        <p:spPr>
          <a:xfrm>
            <a:off x="0" y="693390"/>
            <a:ext cx="9144000" cy="21580"/>
          </a:xfrm>
          <a:prstGeom prst="rect">
            <a:avLst/>
          </a:prstGeom>
          <a:gradFill rotWithShape="1">
            <a:gsLst>
              <a:gs pos="0">
                <a:srgbClr val="1FB8CD"/>
              </a:gs>
              <a:gs pos="100000">
                <a:srgbClr val="0A5F6B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333723" y="1169492"/>
            <a:ext cx="66675" cy="1333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743261" y="1955453"/>
            <a:ext cx="66675" cy="1333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333723" y="2741563"/>
            <a:ext cx="66675" cy="1333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743261" y="3527673"/>
            <a:ext cx="66675" cy="1333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00050" y="776734"/>
            <a:ext cx="3799731" cy="918865"/>
          </a:xfrm>
          <a:prstGeom prst="roundRect">
            <a:avLst>
              <a:gd name="adj" fmla="val 7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6360" dist="13970" dir="5400000">
              <a:srgbClr val="0d1b2a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00050" y="776734"/>
            <a:ext cx="28575" cy="918865"/>
          </a:xfrm>
          <a:custGeom>
            <a:avLst/>
            <a:gdLst/>
            <a:ahLst/>
            <a:cxnLst/>
            <a:rect l="l" t="t" r="r" b="b"/>
            <a:pathLst>
              <a:path w="28575" h="918865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904736"/>
                </a:lnTo>
                <a:lnTo>
                  <a:pt x="25003" y="901886"/>
                </a:lnTo>
                <a:lnTo>
                  <a:pt x="21431" y="898628"/>
                </a:lnTo>
                <a:lnTo>
                  <a:pt x="17859" y="894876"/>
                </a:lnTo>
                <a:lnTo>
                  <a:pt x="14288" y="890501"/>
                </a:lnTo>
                <a:lnTo>
                  <a:pt x="10716" y="885286"/>
                </a:lnTo>
                <a:lnTo>
                  <a:pt x="7144" y="878811"/>
                </a:lnTo>
                <a:lnTo>
                  <a:pt x="3572" y="870000"/>
                </a:lnTo>
                <a:lnTo>
                  <a:pt x="0" y="847745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56766" y="877044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0F7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273" y="953551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2826" y="877044"/>
            <a:ext cx="344169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70" kern="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620" dirty="0"/>
          </a:p>
        </p:txBody>
      </p:sp>
      <p:sp>
        <p:nvSpPr>
          <p:cNvPr id="22" name="Text 17"/>
          <p:cNvSpPr/>
          <p:nvPr/>
        </p:nvSpPr>
        <p:spPr>
          <a:xfrm>
            <a:off x="942826" y="1008906"/>
            <a:ext cx="344169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42826" y="1175147"/>
            <a:ext cx="3191390" cy="44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Team meets to define the Sprint Goal. Developers select Product Backlog items and create the Sprint Backlog — a plan for the next two weeks.</a:t>
            </a:r>
            <a:endParaRPr lang="en-US" sz="760" dirty="0"/>
          </a:p>
        </p:txBody>
      </p:sp>
      <p:sp>
        <p:nvSpPr>
          <p:cNvPr id="24" name="Text 19"/>
          <p:cNvSpPr/>
          <p:nvPr/>
        </p:nvSpPr>
        <p:spPr>
          <a:xfrm>
            <a:off x="4943921" y="1632793"/>
            <a:ext cx="3799731" cy="778818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6360" dist="13970" dir="5400000">
              <a:srgbClr val="0d1b2a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8715077" y="1632793"/>
            <a:ext cx="28575" cy="778818"/>
          </a:xfrm>
          <a:custGeom>
            <a:avLst/>
            <a:gdLst/>
            <a:ahLst/>
            <a:cxnLst/>
            <a:rect l="l" t="t" r="r" b="b"/>
            <a:pathLst>
              <a:path w="28575" h="778818">
                <a:moveTo>
                  <a:pt x="0" y="14129"/>
                </a:moveTo>
                <a:lnTo>
                  <a:pt x="3572" y="16979"/>
                </a:lnTo>
                <a:lnTo>
                  <a:pt x="7144" y="20237"/>
                </a:lnTo>
                <a:lnTo>
                  <a:pt x="10716" y="23989"/>
                </a:lnTo>
                <a:lnTo>
                  <a:pt x="14288" y="28363"/>
                </a:lnTo>
                <a:lnTo>
                  <a:pt x="17859" y="33579"/>
                </a:lnTo>
                <a:lnTo>
                  <a:pt x="21431" y="40054"/>
                </a:lnTo>
                <a:lnTo>
                  <a:pt x="25003" y="48865"/>
                </a:lnTo>
                <a:lnTo>
                  <a:pt x="28575" y="71120"/>
                </a:lnTo>
                <a:lnTo>
                  <a:pt x="28575" y="707698"/>
                </a:lnTo>
                <a:lnTo>
                  <a:pt x="25003" y="729953"/>
                </a:lnTo>
                <a:lnTo>
                  <a:pt x="21431" y="738764"/>
                </a:lnTo>
                <a:lnTo>
                  <a:pt x="17859" y="745239"/>
                </a:lnTo>
                <a:lnTo>
                  <a:pt x="14288" y="750454"/>
                </a:lnTo>
                <a:lnTo>
                  <a:pt x="10716" y="754829"/>
                </a:lnTo>
                <a:lnTo>
                  <a:pt x="7144" y="758581"/>
                </a:lnTo>
                <a:lnTo>
                  <a:pt x="3572" y="761839"/>
                </a:lnTo>
                <a:lnTo>
                  <a:pt x="0" y="764689"/>
                </a:lnTo>
                <a:close/>
              </a:path>
            </a:pathLst>
          </a:custGeom>
          <a:solidFill>
            <a:srgbClr val="0E8FA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5072063" y="1733104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3F2F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8569" y="1809610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58123" y="1733104"/>
            <a:ext cx="344169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70" kern="0" dirty="0">
                <a:solidFill>
                  <a:srgbClr val="0D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1–10 (DAILY)</a:t>
            </a:r>
            <a:endParaRPr lang="en-US" sz="620" dirty="0"/>
          </a:p>
        </p:txBody>
      </p:sp>
      <p:sp>
        <p:nvSpPr>
          <p:cNvPr id="29" name="Text 23"/>
          <p:cNvSpPr/>
          <p:nvPr/>
        </p:nvSpPr>
        <p:spPr>
          <a:xfrm>
            <a:off x="5458123" y="1864965"/>
            <a:ext cx="344169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 (15 min)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458123" y="2031206"/>
            <a:ext cx="3191390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inspect progress toward the Sprint Goal, identify blockers, and adapt the plan. Scrum Master removes impediments.</a:t>
            </a:r>
            <a:endParaRPr lang="en-US" sz="760" dirty="0"/>
          </a:p>
        </p:txBody>
      </p:sp>
      <p:sp>
        <p:nvSpPr>
          <p:cNvPr id="31" name="Text 25"/>
          <p:cNvSpPr/>
          <p:nvPr/>
        </p:nvSpPr>
        <p:spPr>
          <a:xfrm>
            <a:off x="400050" y="2418904"/>
            <a:ext cx="3799731" cy="778818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6360" dist="13970" dir="5400000">
              <a:srgbClr val="0d1b2a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00050" y="2418904"/>
            <a:ext cx="28575" cy="778818"/>
          </a:xfrm>
          <a:custGeom>
            <a:avLst/>
            <a:gdLst/>
            <a:ahLst/>
            <a:cxnLst/>
            <a:rect l="l" t="t" r="r" b="b"/>
            <a:pathLst>
              <a:path w="28575" h="778818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764689"/>
                </a:lnTo>
                <a:lnTo>
                  <a:pt x="25003" y="761839"/>
                </a:lnTo>
                <a:lnTo>
                  <a:pt x="21431" y="758581"/>
                </a:lnTo>
                <a:lnTo>
                  <a:pt x="17859" y="754829"/>
                </a:lnTo>
                <a:lnTo>
                  <a:pt x="14288" y="750454"/>
                </a:lnTo>
                <a:lnTo>
                  <a:pt x="10716" y="745239"/>
                </a:lnTo>
                <a:lnTo>
                  <a:pt x="7144" y="738764"/>
                </a:lnTo>
                <a:lnTo>
                  <a:pt x="3572" y="729953"/>
                </a:lnTo>
                <a:lnTo>
                  <a:pt x="0" y="707698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556766" y="2519214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0F7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273" y="2595720"/>
            <a:ext cx="132588" cy="1325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42826" y="2519214"/>
            <a:ext cx="344169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70" kern="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620" dirty="0"/>
          </a:p>
        </p:txBody>
      </p:sp>
      <p:sp>
        <p:nvSpPr>
          <p:cNvPr id="36" name="Text 29"/>
          <p:cNvSpPr/>
          <p:nvPr/>
        </p:nvSpPr>
        <p:spPr>
          <a:xfrm>
            <a:off x="942826" y="2651075"/>
            <a:ext cx="344169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(2 hrs)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942826" y="2817316"/>
            <a:ext cx="3191390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demonstrates the working Increment to stakeholders. Feedback captured; Product Backlog updated to reflect new insights.</a:t>
            </a:r>
            <a:endParaRPr lang="en-US" sz="760" dirty="0"/>
          </a:p>
        </p:txBody>
      </p:sp>
      <p:sp>
        <p:nvSpPr>
          <p:cNvPr id="38" name="Text 31"/>
          <p:cNvSpPr/>
          <p:nvPr/>
        </p:nvSpPr>
        <p:spPr>
          <a:xfrm>
            <a:off x="4943921" y="3205014"/>
            <a:ext cx="3799731" cy="778818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6360" dist="13970" dir="5400000">
              <a:srgbClr val="0d1b2a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8715077" y="3205014"/>
            <a:ext cx="28575" cy="778818"/>
          </a:xfrm>
          <a:custGeom>
            <a:avLst/>
            <a:gdLst/>
            <a:ahLst/>
            <a:cxnLst/>
            <a:rect l="l" t="t" r="r" b="b"/>
            <a:pathLst>
              <a:path w="28575" h="778818">
                <a:moveTo>
                  <a:pt x="0" y="14129"/>
                </a:moveTo>
                <a:lnTo>
                  <a:pt x="3572" y="16979"/>
                </a:lnTo>
                <a:lnTo>
                  <a:pt x="7144" y="20237"/>
                </a:lnTo>
                <a:lnTo>
                  <a:pt x="10716" y="23989"/>
                </a:lnTo>
                <a:lnTo>
                  <a:pt x="14288" y="28363"/>
                </a:lnTo>
                <a:lnTo>
                  <a:pt x="17859" y="33579"/>
                </a:lnTo>
                <a:lnTo>
                  <a:pt x="21431" y="40054"/>
                </a:lnTo>
                <a:lnTo>
                  <a:pt x="25003" y="48865"/>
                </a:lnTo>
                <a:lnTo>
                  <a:pt x="28575" y="71120"/>
                </a:lnTo>
                <a:lnTo>
                  <a:pt x="28575" y="707698"/>
                </a:lnTo>
                <a:lnTo>
                  <a:pt x="25003" y="729953"/>
                </a:lnTo>
                <a:lnTo>
                  <a:pt x="21431" y="738764"/>
                </a:lnTo>
                <a:lnTo>
                  <a:pt x="17859" y="745239"/>
                </a:lnTo>
                <a:lnTo>
                  <a:pt x="14288" y="750454"/>
                </a:lnTo>
                <a:lnTo>
                  <a:pt x="10716" y="754829"/>
                </a:lnTo>
                <a:lnTo>
                  <a:pt x="7144" y="758581"/>
                </a:lnTo>
                <a:lnTo>
                  <a:pt x="3572" y="761839"/>
                </a:lnTo>
                <a:lnTo>
                  <a:pt x="0" y="764689"/>
                </a:lnTo>
                <a:close/>
              </a:path>
            </a:pathLst>
          </a:custGeom>
          <a:solidFill>
            <a:srgbClr val="0E8FA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5072063" y="3305324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3F2F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48569" y="3381830"/>
            <a:ext cx="132588" cy="13258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458123" y="3305324"/>
            <a:ext cx="344169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70" kern="0" dirty="0">
                <a:solidFill>
                  <a:srgbClr val="0D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(AFTER REVIEW)</a:t>
            </a:r>
            <a:endParaRPr lang="en-US" sz="620" dirty="0"/>
          </a:p>
        </p:txBody>
      </p:sp>
      <p:sp>
        <p:nvSpPr>
          <p:cNvPr id="43" name="Text 35"/>
          <p:cNvSpPr/>
          <p:nvPr/>
        </p:nvSpPr>
        <p:spPr>
          <a:xfrm>
            <a:off x="5458123" y="3437186"/>
            <a:ext cx="344169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 (1.5 hrs)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5458123" y="3603427"/>
            <a:ext cx="3191390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examines how they worked — what went well, what to improve. Commits to at least one process improvement for the next Sprint.</a:t>
            </a:r>
            <a:endParaRPr lang="en-US" sz="760" dirty="0"/>
          </a:p>
        </p:txBody>
      </p:sp>
      <p:sp>
        <p:nvSpPr>
          <p:cNvPr id="45" name="Text 37"/>
          <p:cNvSpPr/>
          <p:nvPr/>
        </p:nvSpPr>
        <p:spPr>
          <a:xfrm>
            <a:off x="4414540" y="1078706"/>
            <a:ext cx="314920" cy="314920"/>
          </a:xfrm>
          <a:prstGeom prst="ellipse">
            <a:avLst/>
          </a:prstGeom>
          <a:solidFill>
            <a:srgbClr val="1FB8CD"/>
          </a:solidFill>
          <a:ln/>
          <a:effectLst>
            <a:outerShdw sx="100000" sy="100000" kx="0" ky="0" algn="bl" rotWithShape="0" blurRad="101600" dist="50800" dir="16200000">
              <a:srgbClr val="d4f0f5">
                <a:alpha val="7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05632" y="1169798"/>
            <a:ext cx="132588" cy="13258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4414540" y="1864816"/>
            <a:ext cx="314920" cy="314920"/>
          </a:xfrm>
          <a:prstGeom prst="ellipse">
            <a:avLst/>
          </a:prstGeom>
          <a:solidFill>
            <a:srgbClr val="0E8FA0"/>
          </a:solidFill>
          <a:ln/>
          <a:effectLst>
            <a:outerShdw sx="100000" sy="100000" kx="0" ky="0" algn="bl" rotWithShape="0" blurRad="101600" dist="50800" dir="16200000">
              <a:srgbClr val="cde9ed">
                <a:alpha val="7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05632" y="1955908"/>
            <a:ext cx="132588" cy="13258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4414540" y="2650927"/>
            <a:ext cx="314920" cy="314920"/>
          </a:xfrm>
          <a:prstGeom prst="ellipse">
            <a:avLst/>
          </a:prstGeom>
          <a:solidFill>
            <a:srgbClr val="1FB8CD"/>
          </a:solidFill>
          <a:ln/>
          <a:effectLst>
            <a:outerShdw sx="100000" sy="100000" kx="0" ky="0" algn="bl" rotWithShape="0" blurRad="101600" dist="50800" dir="16200000">
              <a:srgbClr val="d4f0f5">
                <a:alpha val="7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05632" y="2742018"/>
            <a:ext cx="132588" cy="13258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4414540" y="3437037"/>
            <a:ext cx="314920" cy="314920"/>
          </a:xfrm>
          <a:prstGeom prst="ellipse">
            <a:avLst/>
          </a:prstGeom>
          <a:solidFill>
            <a:srgbClr val="0E8FA0"/>
          </a:solidFill>
          <a:ln/>
          <a:effectLst>
            <a:outerShdw sx="100000" sy="100000" kx="0" ky="0" algn="bl" rotWithShape="0" blurRad="101600" dist="50800" dir="16200000">
              <a:srgbClr val="cde9ed">
                <a:alpha val="7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05632" y="3528128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FB8C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FB8C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gradFill rotWithShape="1">
            <a:gsLst>
              <a:gs pos="60000">
                <a:srgbClr val="000000">
                  <a:alpha val="0"/>
                </a:srgbClr>
              </a:gs>
              <a:gs pos="100000">
                <a:srgbClr val="1FB8CD">
                  <a:alpha val="4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4227" y="571500"/>
            <a:ext cx="964853" cy="27860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2070" y="228600"/>
            <a:ext cx="400050" cy="29170"/>
          </a:xfrm>
          <a:prstGeom prst="roundRect">
            <a:avLst>
              <a:gd name="adj" fmla="val 47892"/>
            </a:avLst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72070" y="300930"/>
            <a:ext cx="4730405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8"/>
              </a:lnSpc>
              <a:spcAft>
                <a:spcPts val="280"/>
              </a:spcAft>
              <a:buNone/>
            </a:pPr>
            <a:r>
              <a:rPr lang="en-US" sz="1580" spc="-16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Waterfall Methodology: </a:t>
            </a:r>
            <a:pPr algn="l" indent="0" marL="0">
              <a:lnSpc>
                <a:spcPts val="1738"/>
              </a:lnSpc>
              <a:spcAft>
                <a:spcPts val="280"/>
              </a:spcAft>
              <a:buNone/>
            </a:pPr>
            <a:r>
              <a:rPr lang="en-US" sz="1580" spc="-16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Sequential Approach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372070" y="556915"/>
            <a:ext cx="2483069" cy="191691"/>
          </a:xfrm>
          <a:prstGeom prst="roundRect">
            <a:avLst>
              <a:gd name="adj" fmla="val 74865"/>
            </a:avLst>
          </a:prstGeom>
          <a:solidFill>
            <a:srgbClr val="1FB8CD">
              <a:alpha val="10000"/>
            </a:srgbClr>
          </a:solidFill>
          <a:ln w="9525">
            <a:solidFill>
              <a:srgbClr val="1FB8CD">
                <a:alpha val="40000"/>
              </a:srgbClr>
            </a:solidFill>
          </a:ln>
        </p:spPr>
        <p:txBody>
          <a:bodyPr wrap="none" lIns="194280" tIns="21590" rIns="86360" bIns="21590" rtlCol="0" anchor="ctr"/>
          <a:lstStyle/>
          <a:p>
            <a:pPr algn="l" indent="0" marL="0">
              <a:buNone/>
            </a:pPr>
            <a:r>
              <a:rPr lang="en-US" sz="680" spc="27" kern="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phase-gated, document-driven development</a:t>
            </a:r>
            <a:endParaRPr lang="en-US" sz="68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92" y="586392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62487" y="529679"/>
            <a:ext cx="2209443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85"/>
              </a:lnSpc>
              <a:buNone/>
            </a:pPr>
            <a:r>
              <a:rPr lang="en-US" sz="59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Formalized by Winston W. Royce, 1970</a:t>
            </a:r>
            <a:endParaRPr lang="en-US" sz="590" dirty="0"/>
          </a:p>
        </p:txBody>
      </p:sp>
      <p:sp>
        <p:nvSpPr>
          <p:cNvPr id="11" name="Text 7"/>
          <p:cNvSpPr/>
          <p:nvPr/>
        </p:nvSpPr>
        <p:spPr>
          <a:xfrm>
            <a:off x="6562487" y="641896"/>
            <a:ext cx="220944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7DA3C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designed for large-scale hardware &amp; defense systems</a:t>
            </a:r>
            <a:endParaRPr lang="en-US" sz="560" dirty="0"/>
          </a:p>
        </p:txBody>
      </p:sp>
      <p:sp>
        <p:nvSpPr>
          <p:cNvPr id="12" name="Text 8"/>
          <p:cNvSpPr/>
          <p:nvPr/>
        </p:nvSpPr>
        <p:spPr>
          <a:xfrm>
            <a:off x="372070" y="877491"/>
            <a:ext cx="49411" cy="49411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21481" y="895350"/>
            <a:ext cx="3125093" cy="13841"/>
          </a:xfrm>
          <a:prstGeom prst="rect">
            <a:avLst/>
          </a:prstGeom>
          <a:gradFill rotWithShape="1">
            <a:gsLst>
              <a:gs pos="0">
                <a:srgbClr val="1FB8CD"/>
              </a:gs>
              <a:gs pos="100000">
                <a:srgbClr val="1FB8CD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603724" y="848916"/>
            <a:ext cx="209009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56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FLOW: REQUIREMENTS → DELIVERY</a:t>
            </a:r>
            <a:endParaRPr lang="en-US" sz="560" dirty="0"/>
          </a:p>
        </p:txBody>
      </p:sp>
      <p:sp>
        <p:nvSpPr>
          <p:cNvPr id="15" name="Text 11"/>
          <p:cNvSpPr/>
          <p:nvPr/>
        </p:nvSpPr>
        <p:spPr>
          <a:xfrm>
            <a:off x="5560963" y="895350"/>
            <a:ext cx="3125242" cy="13841"/>
          </a:xfrm>
          <a:prstGeom prst="rect">
            <a:avLst/>
          </a:prstGeom>
          <a:gradFill rotWithShape="1">
            <a:gsLst>
              <a:gs pos="0">
                <a:srgbClr val="1FB8CD">
                  <a:alpha val="20000"/>
                </a:srgbClr>
              </a:gs>
              <a:gs pos="100000">
                <a:srgbClr val="1FB8C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2773" y="835902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2070" y="1026616"/>
            <a:ext cx="1268760" cy="1114127"/>
          </a:xfrm>
          <a:prstGeom prst="roundRect">
            <a:avLst>
              <a:gd name="adj" fmla="val 6383"/>
            </a:avLst>
          </a:prstGeom>
          <a:solidFill>
            <a:srgbClr val="162236"/>
          </a:solidFill>
          <a:ln w="9525">
            <a:solidFill>
              <a:srgbClr val="1FB8CD">
                <a:alpha val="4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927646" y="957411"/>
            <a:ext cx="157460" cy="173206"/>
          </a:xfrm>
          <a:prstGeom prst="ellipse">
            <a:avLst/>
          </a:prstGeom>
          <a:solidFill>
            <a:srgbClr val="1FB8CD"/>
          </a:solidFill>
          <a:ln/>
          <a:effectLst>
            <a:outerShdw sx="100000" sy="100000" kx="0" ky="0" algn="bl" rotWithShape="0" blurRad="101600" dist="50800" dir="16200000">
              <a:srgbClr val="162236">
                <a:alpha val="7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19" name="Text 14"/>
          <p:cNvSpPr/>
          <p:nvPr/>
        </p:nvSpPr>
        <p:spPr>
          <a:xfrm>
            <a:off x="863501" y="1122462"/>
            <a:ext cx="285750" cy="285750"/>
          </a:xfrm>
          <a:prstGeom prst="ellipse">
            <a:avLst/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0007" y="1198968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6839" y="1465362"/>
            <a:ext cx="67907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6"/>
              </a:lnSpc>
              <a:buNone/>
            </a:pPr>
            <a:r>
              <a:rPr lang="en-US" sz="730" b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</a:t>
            </a:r>
            <a:endParaRPr lang="en-US" sz="730" dirty="0"/>
          </a:p>
        </p:txBody>
      </p:sp>
      <p:sp>
        <p:nvSpPr>
          <p:cNvPr id="22" name="Text 16"/>
          <p:cNvSpPr/>
          <p:nvPr/>
        </p:nvSpPr>
        <p:spPr>
          <a:xfrm>
            <a:off x="441509" y="1619696"/>
            <a:ext cx="1129882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requirements gathered and frozen upfront; detailed specification documents produced.</a:t>
            </a:r>
            <a:endParaRPr lang="en-US" sz="62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0830" y="1069777"/>
            <a:ext cx="157460" cy="314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98290" y="1170087"/>
            <a:ext cx="1268760" cy="1003995"/>
          </a:xfrm>
          <a:prstGeom prst="roundRect">
            <a:avLst>
              <a:gd name="adj" fmla="val 7084"/>
            </a:avLst>
          </a:prstGeom>
          <a:solidFill>
            <a:srgbClr val="162236"/>
          </a:solidFill>
          <a:ln w="9525">
            <a:solidFill>
              <a:srgbClr val="1FB8CD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2353866" y="1100882"/>
            <a:ext cx="157460" cy="173206"/>
          </a:xfrm>
          <a:prstGeom prst="ellipse">
            <a:avLst/>
          </a:prstGeom>
          <a:solidFill>
            <a:srgbClr val="1FB8CD"/>
          </a:solidFill>
          <a:ln/>
          <a:effectLst>
            <a:outerShdw sx="100000" sy="100000" kx="0" ky="0" algn="bl" rotWithShape="0" blurRad="101600" dist="50800" dir="16200000">
              <a:srgbClr val="162236">
                <a:alpha val="7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26" name="Text 19"/>
          <p:cNvSpPr/>
          <p:nvPr/>
        </p:nvSpPr>
        <p:spPr>
          <a:xfrm>
            <a:off x="2289721" y="1265932"/>
            <a:ext cx="285750" cy="285750"/>
          </a:xfrm>
          <a:prstGeom prst="ellipse">
            <a:avLst/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66227" y="1342439"/>
            <a:ext cx="132588" cy="132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067520" y="1608832"/>
            <a:ext cx="73015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6"/>
              </a:lnSpc>
              <a:buNone/>
            </a:pPr>
            <a:r>
              <a:rPr lang="en-US" sz="730" b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Design</a:t>
            </a:r>
            <a:endParaRPr lang="en-US" sz="730" dirty="0"/>
          </a:p>
        </p:txBody>
      </p:sp>
      <p:sp>
        <p:nvSpPr>
          <p:cNvPr id="29" name="Text 21"/>
          <p:cNvSpPr/>
          <p:nvPr/>
        </p:nvSpPr>
        <p:spPr>
          <a:xfrm>
            <a:off x="1867729" y="1763167"/>
            <a:ext cx="1129882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database, and UI designed based on requirements document.</a:t>
            </a:r>
            <a:endParaRPr lang="en-US" sz="62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67050" y="1140916"/>
            <a:ext cx="157460" cy="3149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224510" y="1170087"/>
            <a:ext cx="1268760" cy="1003995"/>
          </a:xfrm>
          <a:prstGeom prst="roundRect">
            <a:avLst>
              <a:gd name="adj" fmla="val 7084"/>
            </a:avLst>
          </a:prstGeom>
          <a:solidFill>
            <a:srgbClr val="162236"/>
          </a:solidFill>
          <a:ln w="9525">
            <a:solidFill>
              <a:srgbClr val="1FB8CD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3780086" y="1100882"/>
            <a:ext cx="157460" cy="173206"/>
          </a:xfrm>
          <a:prstGeom prst="ellipse">
            <a:avLst/>
          </a:prstGeom>
          <a:solidFill>
            <a:srgbClr val="1FB8CD"/>
          </a:solidFill>
          <a:ln/>
          <a:effectLst>
            <a:outerShdw sx="100000" sy="100000" kx="0" ky="0" algn="bl" rotWithShape="0" blurRad="101600" dist="50800" dir="16200000">
              <a:srgbClr val="162236">
                <a:alpha val="7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33" name="Text 24"/>
          <p:cNvSpPr/>
          <p:nvPr/>
        </p:nvSpPr>
        <p:spPr>
          <a:xfrm>
            <a:off x="3715941" y="1265932"/>
            <a:ext cx="285750" cy="285750"/>
          </a:xfrm>
          <a:prstGeom prst="ellipse">
            <a:avLst/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792447" y="1342439"/>
            <a:ext cx="132588" cy="13258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482600" y="1608832"/>
            <a:ext cx="752579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6"/>
              </a:lnSpc>
              <a:buNone/>
            </a:pPr>
            <a:r>
              <a:rPr lang="en-US" sz="730" b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Implementation</a:t>
            </a:r>
            <a:endParaRPr lang="en-US" sz="730" dirty="0"/>
          </a:p>
        </p:txBody>
      </p:sp>
      <p:sp>
        <p:nvSpPr>
          <p:cNvPr id="36" name="Text 26"/>
          <p:cNvSpPr/>
          <p:nvPr/>
        </p:nvSpPr>
        <p:spPr>
          <a:xfrm>
            <a:off x="3293949" y="1763167"/>
            <a:ext cx="1129882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write code according to design specs; minimal stakeholder interaction.</a:t>
            </a:r>
            <a:endParaRPr lang="en-US" sz="62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93270" y="1211907"/>
            <a:ext cx="157460" cy="31492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50730" y="1026616"/>
            <a:ext cx="1268760" cy="1194792"/>
          </a:xfrm>
          <a:prstGeom prst="roundRect">
            <a:avLst>
              <a:gd name="adj" fmla="val 5953"/>
            </a:avLst>
          </a:prstGeom>
          <a:solidFill>
            <a:srgbClr val="162236"/>
          </a:solidFill>
          <a:ln w="9525">
            <a:solidFill>
              <a:srgbClr val="FFA03C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28"/>
          <p:cNvSpPr/>
          <p:nvPr/>
        </p:nvSpPr>
        <p:spPr>
          <a:xfrm>
            <a:off x="5206305" y="957411"/>
            <a:ext cx="157460" cy="17320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50800" dir="16200000">
              <a:srgbClr val="162236">
                <a:alpha val="7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20" dirty="0"/>
          </a:p>
        </p:txBody>
      </p:sp>
      <p:sp>
        <p:nvSpPr>
          <p:cNvPr id="40" name="Text 29"/>
          <p:cNvSpPr/>
          <p:nvPr/>
        </p:nvSpPr>
        <p:spPr>
          <a:xfrm>
            <a:off x="5142161" y="1122462"/>
            <a:ext cx="285750" cy="285750"/>
          </a:xfrm>
          <a:prstGeom prst="ellipse">
            <a:avLst/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18667" y="1198968"/>
            <a:ext cx="132588" cy="13258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4779660" y="1465362"/>
            <a:ext cx="101075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6"/>
              </a:lnSpc>
              <a:buNone/>
            </a:pPr>
            <a:r>
              <a:rPr lang="en-US" sz="73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Integration &amp; Testing</a:t>
            </a:r>
            <a:endParaRPr lang="en-US" sz="730" dirty="0"/>
          </a:p>
        </p:txBody>
      </p:sp>
      <p:sp>
        <p:nvSpPr>
          <p:cNvPr id="43" name="Text 31"/>
          <p:cNvSpPr/>
          <p:nvPr/>
        </p:nvSpPr>
        <p:spPr>
          <a:xfrm>
            <a:off x="4720169" y="1619696"/>
            <a:ext cx="1129882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assembled and tested; defects discovered at this late stage.</a:t>
            </a:r>
            <a:endParaRPr lang="en-US" sz="620" dirty="0"/>
          </a:p>
        </p:txBody>
      </p:sp>
      <p:sp>
        <p:nvSpPr>
          <p:cNvPr id="44" name="Text 32"/>
          <p:cNvSpPr/>
          <p:nvPr/>
        </p:nvSpPr>
        <p:spPr>
          <a:xfrm>
            <a:off x="4914007" y="1993255"/>
            <a:ext cx="756898" cy="147638"/>
          </a:xfrm>
          <a:prstGeom prst="roundRect">
            <a:avLst>
              <a:gd name="adj" fmla="val 19785"/>
            </a:avLst>
          </a:prstGeom>
          <a:solidFill>
            <a:srgbClr val="F59E0B">
              <a:alpha val="12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43180" tIns="13970" rIns="43180" bIns="13970" rtlCol="0" anchor="t"/>
          <a:lstStyle/>
          <a:p>
            <a:pPr algn="l" indent="0" marL="0">
              <a:buNone/>
            </a:pPr>
            <a:r>
              <a:rPr lang="en-US" sz="530" b="1" spc="26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Late-Stage Risk</a:t>
            </a:r>
            <a:endParaRPr lang="en-US" sz="53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19490" y="1184077"/>
            <a:ext cx="157460" cy="31492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6076950" y="1170087"/>
            <a:ext cx="1268760" cy="1003995"/>
          </a:xfrm>
          <a:prstGeom prst="roundRect">
            <a:avLst>
              <a:gd name="adj" fmla="val 7084"/>
            </a:avLst>
          </a:prstGeom>
          <a:solidFill>
            <a:srgbClr val="162236"/>
          </a:solidFill>
          <a:ln w="9525">
            <a:solidFill>
              <a:srgbClr val="1FB8CD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4"/>
          <p:cNvSpPr/>
          <p:nvPr/>
        </p:nvSpPr>
        <p:spPr>
          <a:xfrm>
            <a:off x="6632525" y="1100882"/>
            <a:ext cx="157460" cy="173206"/>
          </a:xfrm>
          <a:prstGeom prst="ellipse">
            <a:avLst/>
          </a:prstGeom>
          <a:solidFill>
            <a:srgbClr val="1FB8CD"/>
          </a:solidFill>
          <a:ln/>
          <a:effectLst>
            <a:outerShdw sx="100000" sy="100000" kx="0" ky="0" algn="bl" rotWithShape="0" blurRad="101600" dist="50800" dir="16200000">
              <a:srgbClr val="162236">
                <a:alpha val="7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20" dirty="0"/>
          </a:p>
        </p:txBody>
      </p:sp>
      <p:sp>
        <p:nvSpPr>
          <p:cNvPr id="48" name="Text 35"/>
          <p:cNvSpPr/>
          <p:nvPr/>
        </p:nvSpPr>
        <p:spPr>
          <a:xfrm>
            <a:off x="6568380" y="1265932"/>
            <a:ext cx="285750" cy="285750"/>
          </a:xfrm>
          <a:prstGeom prst="ellipse">
            <a:avLst/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644887" y="1342439"/>
            <a:ext cx="132588" cy="132588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6419850" y="1608832"/>
            <a:ext cx="58281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6"/>
              </a:lnSpc>
              <a:buNone/>
            </a:pPr>
            <a:r>
              <a:rPr lang="en-US" sz="730" b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Deployment</a:t>
            </a:r>
            <a:endParaRPr lang="en-US" sz="730" dirty="0"/>
          </a:p>
        </p:txBody>
      </p:sp>
      <p:sp>
        <p:nvSpPr>
          <p:cNvPr id="51" name="Text 37"/>
          <p:cNvSpPr/>
          <p:nvPr/>
        </p:nvSpPr>
        <p:spPr>
          <a:xfrm>
            <a:off x="6146389" y="1763167"/>
            <a:ext cx="1129882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released to customer; often months or years after initial requirements.</a:t>
            </a:r>
            <a:endParaRPr lang="en-US" sz="620" dirty="0"/>
          </a:p>
        </p:txBody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345710" y="1140916"/>
            <a:ext cx="157460" cy="31492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7503170" y="1097607"/>
            <a:ext cx="1268760" cy="1003995"/>
          </a:xfrm>
          <a:prstGeom prst="roundRect">
            <a:avLst>
              <a:gd name="adj" fmla="val 7084"/>
            </a:avLst>
          </a:prstGeom>
          <a:solidFill>
            <a:srgbClr val="162236"/>
          </a:solidFill>
          <a:ln w="9525">
            <a:solidFill>
              <a:srgbClr val="1FB8CD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39"/>
          <p:cNvSpPr/>
          <p:nvPr/>
        </p:nvSpPr>
        <p:spPr>
          <a:xfrm>
            <a:off x="8058745" y="1028402"/>
            <a:ext cx="157460" cy="173206"/>
          </a:xfrm>
          <a:prstGeom prst="ellipse">
            <a:avLst/>
          </a:prstGeom>
          <a:solidFill>
            <a:srgbClr val="1FB8CD"/>
          </a:solidFill>
          <a:ln/>
          <a:effectLst>
            <a:outerShdw sx="100000" sy="100000" kx="0" ky="0" algn="bl" rotWithShape="0" blurRad="101600" dist="50800" dir="16200000">
              <a:srgbClr val="162236">
                <a:alpha val="7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20" dirty="0"/>
          </a:p>
        </p:txBody>
      </p:sp>
      <p:sp>
        <p:nvSpPr>
          <p:cNvPr id="55" name="Text 40"/>
          <p:cNvSpPr/>
          <p:nvPr/>
        </p:nvSpPr>
        <p:spPr>
          <a:xfrm>
            <a:off x="7994600" y="1193453"/>
            <a:ext cx="285750" cy="285750"/>
          </a:xfrm>
          <a:prstGeom prst="ellipse">
            <a:avLst/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071107" y="1269959"/>
            <a:ext cx="132588" cy="132588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7829044" y="1536353"/>
            <a:ext cx="61686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6"/>
              </a:lnSpc>
              <a:buNone/>
            </a:pPr>
            <a:r>
              <a:rPr lang="en-US" sz="730" b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Maintenance</a:t>
            </a:r>
            <a:endParaRPr lang="en-US" sz="730" dirty="0"/>
          </a:p>
        </p:txBody>
      </p:sp>
      <p:sp>
        <p:nvSpPr>
          <p:cNvPr id="58" name="Text 42"/>
          <p:cNvSpPr/>
          <p:nvPr/>
        </p:nvSpPr>
        <p:spPr>
          <a:xfrm>
            <a:off x="7572609" y="1690688"/>
            <a:ext cx="1129882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and change requests managed through formal change control process.</a:t>
            </a:r>
            <a:endParaRPr lang="en-US" sz="620" dirty="0"/>
          </a:p>
        </p:txBody>
      </p:sp>
      <p:sp>
        <p:nvSpPr>
          <p:cNvPr id="59" name="Text 43"/>
          <p:cNvSpPr/>
          <p:nvPr/>
        </p:nvSpPr>
        <p:spPr>
          <a:xfrm>
            <a:off x="372070" y="4378970"/>
            <a:ext cx="8399859" cy="621060"/>
          </a:xfrm>
          <a:prstGeom prst="roundRect">
            <a:avLst>
              <a:gd name="adj" fmla="val 9202"/>
            </a:avLst>
          </a:prstGeom>
          <a:solidFill>
            <a:srgbClr val="1FB8CD">
              <a:alpha val="10000"/>
            </a:srgbClr>
          </a:solidFill>
          <a:ln w="9525">
            <a:solidFill>
              <a:srgbClr val="1FB8CD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44"/>
          <p:cNvSpPr/>
          <p:nvPr/>
        </p:nvSpPr>
        <p:spPr>
          <a:xfrm>
            <a:off x="553045" y="4560540"/>
            <a:ext cx="257770" cy="257770"/>
          </a:xfrm>
          <a:prstGeom prst="ellipse">
            <a:avLst/>
          </a:prstGeom>
          <a:solidFill>
            <a:srgbClr val="1FB8CD">
              <a:alpha val="12000"/>
            </a:srgbClr>
          </a:solidFill>
          <a:ln w="9525">
            <a:solidFill>
              <a:srgbClr val="1FB8CD"/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15636" y="4623131"/>
            <a:ext cx="132588" cy="132588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897136" y="4459486"/>
            <a:ext cx="123814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CHARACTERISTIC:</a:t>
            </a:r>
            <a:endParaRPr lang="en-US" sz="680" dirty="0"/>
          </a:p>
        </p:txBody>
      </p:sp>
      <p:sp>
        <p:nvSpPr>
          <p:cNvPr id="63" name="Text 46"/>
          <p:cNvSpPr/>
          <p:nvPr/>
        </p:nvSpPr>
        <p:spPr>
          <a:xfrm>
            <a:off x="897136" y="4659957"/>
            <a:ext cx="6182246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flows in one direction only — returning to a prior phase is costly and disruptive. Each gate must be fully completed before the next begins.</a:t>
            </a:r>
            <a:endParaRPr lang="en-US" sz="730" dirty="0"/>
          </a:p>
        </p:txBody>
      </p:sp>
      <p:sp>
        <p:nvSpPr>
          <p:cNvPr id="64" name="Text 47"/>
          <p:cNvSpPr/>
          <p:nvPr/>
        </p:nvSpPr>
        <p:spPr>
          <a:xfrm>
            <a:off x="7130802" y="4636145"/>
            <a:ext cx="16061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Royce (1970) · Schwaber &amp; Sutherland (2020)</a:t>
            </a:r>
            <a:endParaRPr lang="en-US" sz="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1FB8CD"/>
              </a:gs>
              <a:gs pos="60000">
                <a:srgbClr val="0D4F6B"/>
              </a:gs>
              <a:gs pos="100000">
                <a:srgbClr val="0D1B2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63562"/>
            <a:ext cx="8927973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690" spc="-30" kern="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Agile vs. Waterfall: Side-by-Side</a:t>
            </a:r>
            <a:endParaRPr lang="en-US" sz="1690" dirty="0"/>
          </a:p>
        </p:txBody>
      </p:sp>
      <p:sp>
        <p:nvSpPr>
          <p:cNvPr id="4" name="Text 2"/>
          <p:cNvSpPr/>
          <p:nvPr/>
        </p:nvSpPr>
        <p:spPr>
          <a:xfrm>
            <a:off x="400050" y="442764"/>
            <a:ext cx="299591" cy="21580"/>
          </a:xfrm>
          <a:prstGeom prst="roundRect">
            <a:avLst>
              <a:gd name="adj" fmla="val 64736"/>
            </a:avLst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535335"/>
            <a:ext cx="4000500" cy="4378375"/>
          </a:xfrm>
          <a:prstGeom prst="roundRect">
            <a:avLst>
              <a:gd name="adj" fmla="val 21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397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535335"/>
            <a:ext cx="4000500" cy="342602"/>
          </a:xfrm>
          <a:prstGeom prst="rect">
            <a:avLst/>
          </a:prstGeom>
          <a:gradFill rotWithShape="1">
            <a:gsLst>
              <a:gs pos="0">
                <a:srgbClr val="1FB8CD"/>
              </a:gs>
              <a:gs pos="100000">
                <a:srgbClr val="17A3B8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520" y="606326"/>
            <a:ext cx="200620" cy="200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5132" y="615255"/>
            <a:ext cx="85178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3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Agile / Scrum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3328839" y="653207"/>
            <a:ext cx="102106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· ITERATIVE</a:t>
            </a:r>
            <a:endParaRPr lang="en-US" sz="560" dirty="0"/>
          </a:p>
        </p:txBody>
      </p:sp>
      <p:sp>
        <p:nvSpPr>
          <p:cNvPr id="10" name="Text 7"/>
          <p:cNvSpPr/>
          <p:nvPr/>
        </p:nvSpPr>
        <p:spPr>
          <a:xfrm>
            <a:off x="400050" y="1272927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14350" y="1053852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8501" y="1032718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APPROACH</a:t>
            </a:r>
            <a:endParaRPr lang="en-US" sz="560" dirty="0"/>
          </a:p>
        </p:txBody>
      </p:sp>
      <p:sp>
        <p:nvSpPr>
          <p:cNvPr id="13" name="Text 10"/>
          <p:cNvSpPr/>
          <p:nvPr/>
        </p:nvSpPr>
        <p:spPr>
          <a:xfrm>
            <a:off x="1528763" y="1017687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&amp; Incremental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00050" y="1282452"/>
            <a:ext cx="4000500" cy="404664"/>
          </a:xfrm>
          <a:prstGeom prst="rect">
            <a:avLst/>
          </a:prstGeom>
          <a:solidFill>
            <a:srgbClr val="F8FBF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00050" y="1677591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14350" y="1458367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8501" y="1437382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PLANNING</a:t>
            </a:r>
            <a:endParaRPr lang="en-US" sz="560" dirty="0"/>
          </a:p>
        </p:txBody>
      </p:sp>
      <p:sp>
        <p:nvSpPr>
          <p:cNvPr id="18" name="Text 15"/>
          <p:cNvSpPr/>
          <p:nvPr/>
        </p:nvSpPr>
        <p:spPr>
          <a:xfrm>
            <a:off x="1528763" y="1422202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— Sprint by Sprint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00050" y="2082105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14350" y="1863030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28501" y="1841897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</a:t>
            </a:r>
            <a:endParaRPr lang="en-US" sz="560" dirty="0"/>
          </a:p>
        </p:txBody>
      </p:sp>
      <p:sp>
        <p:nvSpPr>
          <p:cNvPr id="22" name="Text 19"/>
          <p:cNvSpPr/>
          <p:nvPr/>
        </p:nvSpPr>
        <p:spPr>
          <a:xfrm>
            <a:off x="1528763" y="1826865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through collaboration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00050" y="2091630"/>
            <a:ext cx="4000500" cy="404515"/>
          </a:xfrm>
          <a:prstGeom prst="rect">
            <a:avLst/>
          </a:prstGeom>
          <a:solidFill>
            <a:srgbClr val="F8FBF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00050" y="2486620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14350" y="2267545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28501" y="2246412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DELIVERY</a:t>
            </a:r>
            <a:endParaRPr lang="en-US" sz="560" dirty="0"/>
          </a:p>
        </p:txBody>
      </p:sp>
      <p:sp>
        <p:nvSpPr>
          <p:cNvPr id="27" name="Text 24"/>
          <p:cNvSpPr/>
          <p:nvPr/>
        </p:nvSpPr>
        <p:spPr>
          <a:xfrm>
            <a:off x="1528763" y="2231380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every Sprint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00050" y="2891135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14350" y="2672060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28501" y="2608362"/>
            <a:ext cx="845856" cy="179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INVOLVEMENT</a:t>
            </a:r>
            <a:endParaRPr lang="en-US" sz="560" dirty="0"/>
          </a:p>
        </p:txBody>
      </p:sp>
      <p:sp>
        <p:nvSpPr>
          <p:cNvPr id="31" name="Text 28"/>
          <p:cNvSpPr/>
          <p:nvPr/>
        </p:nvSpPr>
        <p:spPr>
          <a:xfrm>
            <a:off x="1528763" y="2635895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— part of every Sprint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00050" y="2900660"/>
            <a:ext cx="4000500" cy="404515"/>
          </a:xfrm>
          <a:prstGeom prst="rect">
            <a:avLst/>
          </a:prstGeom>
          <a:solidFill>
            <a:srgbClr val="F8FBF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00050" y="3295650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14350" y="3076575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28501" y="3055441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TESTING</a:t>
            </a:r>
            <a:endParaRPr lang="en-US" sz="560" dirty="0"/>
          </a:p>
        </p:txBody>
      </p:sp>
      <p:sp>
        <p:nvSpPr>
          <p:cNvPr id="36" name="Text 33"/>
          <p:cNvSpPr/>
          <p:nvPr/>
        </p:nvSpPr>
        <p:spPr>
          <a:xfrm>
            <a:off x="1528763" y="3040410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throughout development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00050" y="3700165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14350" y="3481090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28501" y="3459956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MGMT</a:t>
            </a:r>
            <a:endParaRPr lang="en-US" sz="560" dirty="0"/>
          </a:p>
        </p:txBody>
      </p:sp>
      <p:sp>
        <p:nvSpPr>
          <p:cNvPr id="40" name="Text 37"/>
          <p:cNvSpPr/>
          <p:nvPr/>
        </p:nvSpPr>
        <p:spPr>
          <a:xfrm>
            <a:off x="1528763" y="3444925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Welcomed; incorporated into next Sprint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400050" y="3709690"/>
            <a:ext cx="4000500" cy="404515"/>
          </a:xfrm>
          <a:prstGeom prst="rect">
            <a:avLst/>
          </a:prstGeom>
          <a:solidFill>
            <a:srgbClr val="F8FBF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00050" y="4104680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14350" y="3885605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28501" y="3864471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</a:t>
            </a:r>
            <a:endParaRPr lang="en-US" sz="560" dirty="0"/>
          </a:p>
        </p:txBody>
      </p:sp>
      <p:sp>
        <p:nvSpPr>
          <p:cNvPr id="45" name="Text 42"/>
          <p:cNvSpPr/>
          <p:nvPr/>
        </p:nvSpPr>
        <p:spPr>
          <a:xfrm>
            <a:off x="1528763" y="3849439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early; addressed iteratively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00050" y="4509195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14350" y="4290120"/>
            <a:ext cx="43160" cy="4316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28501" y="4268986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TEAM STRUCTURE</a:t>
            </a:r>
            <a:endParaRPr lang="en-US" sz="560" dirty="0"/>
          </a:p>
        </p:txBody>
      </p:sp>
      <p:sp>
        <p:nvSpPr>
          <p:cNvPr id="49" name="Text 46"/>
          <p:cNvSpPr/>
          <p:nvPr/>
        </p:nvSpPr>
        <p:spPr>
          <a:xfrm>
            <a:off x="1528763" y="4253954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Self-managing, cross-functional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400050" y="4518720"/>
            <a:ext cx="4000500" cy="394990"/>
          </a:xfrm>
          <a:custGeom>
            <a:avLst/>
            <a:gdLst/>
            <a:ahLst/>
            <a:cxnLst/>
            <a:rect l="l" t="t" r="r" b="b"/>
            <a:pathLst>
              <a:path w="4000500" h="394990">
                <a:moveTo>
                  <a:pt x="0" y="0"/>
                </a:moveTo>
                <a:lnTo>
                  <a:pt x="0" y="308630"/>
                </a:lnTo>
                <a:lnTo>
                  <a:pt x="1659" y="325478"/>
                </a:lnTo>
                <a:lnTo>
                  <a:pt x="6574" y="341678"/>
                </a:lnTo>
                <a:lnTo>
                  <a:pt x="14554" y="356609"/>
                </a:lnTo>
                <a:lnTo>
                  <a:pt x="25294" y="369696"/>
                </a:lnTo>
                <a:lnTo>
                  <a:pt x="38381" y="380436"/>
                </a:lnTo>
                <a:lnTo>
                  <a:pt x="53311" y="388416"/>
                </a:lnTo>
                <a:lnTo>
                  <a:pt x="69512" y="393330"/>
                </a:lnTo>
                <a:lnTo>
                  <a:pt x="86360" y="394990"/>
                </a:lnTo>
                <a:lnTo>
                  <a:pt x="3914140" y="394990"/>
                </a:lnTo>
                <a:lnTo>
                  <a:pt x="3930988" y="393330"/>
                </a:lnTo>
                <a:lnTo>
                  <a:pt x="3947189" y="388416"/>
                </a:lnTo>
                <a:lnTo>
                  <a:pt x="3962119" y="380436"/>
                </a:lnTo>
                <a:lnTo>
                  <a:pt x="3975206" y="369696"/>
                </a:lnTo>
                <a:lnTo>
                  <a:pt x="3985946" y="356609"/>
                </a:lnTo>
                <a:lnTo>
                  <a:pt x="3993926" y="341678"/>
                </a:lnTo>
                <a:lnTo>
                  <a:pt x="3998841" y="325478"/>
                </a:lnTo>
                <a:lnTo>
                  <a:pt x="4000500" y="308630"/>
                </a:lnTo>
                <a:lnTo>
                  <a:pt x="4000500" y="0"/>
                </a:lnTo>
                <a:close/>
              </a:path>
            </a:pathLst>
          </a:custGeom>
          <a:solidFill>
            <a:srgbClr val="F0FA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635" y="4649846"/>
            <a:ext cx="132588" cy="13258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660499" y="4673501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0D7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FOR</a:t>
            </a:r>
            <a:endParaRPr lang="en-US" sz="560" dirty="0"/>
          </a:p>
        </p:txBody>
      </p:sp>
      <p:sp>
        <p:nvSpPr>
          <p:cNvPr id="53" name="Text 49"/>
          <p:cNvSpPr/>
          <p:nvPr/>
        </p:nvSpPr>
        <p:spPr>
          <a:xfrm>
            <a:off x="1560761" y="4658469"/>
            <a:ext cx="299803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evolving, or complex projects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4565005" y="535335"/>
            <a:ext cx="13841" cy="2003078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BD8E8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4443115" y="2595563"/>
            <a:ext cx="257770" cy="283547"/>
          </a:xfrm>
          <a:prstGeom prst="ellipse">
            <a:avLst/>
          </a:prstGeom>
          <a:solidFill>
            <a:srgbClr val="E8F0FA"/>
          </a:solidFill>
          <a:ln w="9525">
            <a:solidFill>
              <a:srgbClr val="CBD8E8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spc="30" kern="0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4565005" y="2910483"/>
            <a:ext cx="13841" cy="2003227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BD8E8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4743450" y="535335"/>
            <a:ext cx="4000500" cy="437837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1397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4743450" y="535335"/>
            <a:ext cx="4000500" cy="342602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62236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5">
            <a:alphaModFix amt="9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6920" y="606326"/>
            <a:ext cx="200620" cy="200620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5158532" y="615255"/>
            <a:ext cx="561856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3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Waterfall</a:t>
            </a:r>
            <a:endParaRPr lang="en-US" sz="960" dirty="0"/>
          </a:p>
        </p:txBody>
      </p:sp>
      <p:sp>
        <p:nvSpPr>
          <p:cNvPr id="61" name="Text 56"/>
          <p:cNvSpPr/>
          <p:nvPr/>
        </p:nvSpPr>
        <p:spPr>
          <a:xfrm>
            <a:off x="7488882" y="653207"/>
            <a:ext cx="122275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· PREDICTIVE</a:t>
            </a:r>
            <a:endParaRPr lang="en-US" sz="560" dirty="0"/>
          </a:p>
        </p:txBody>
      </p:sp>
      <p:sp>
        <p:nvSpPr>
          <p:cNvPr id="62" name="Text 57"/>
          <p:cNvSpPr/>
          <p:nvPr/>
        </p:nvSpPr>
        <p:spPr>
          <a:xfrm>
            <a:off x="4743450" y="1272927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8"/>
          <p:cNvSpPr/>
          <p:nvPr/>
        </p:nvSpPr>
        <p:spPr>
          <a:xfrm>
            <a:off x="4857750" y="1053852"/>
            <a:ext cx="43160" cy="43160"/>
          </a:xfrm>
          <a:prstGeom prst="ellipse">
            <a:avLst/>
          </a:prstGeom>
          <a:solidFill>
            <a:srgbClr val="0D1B2A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9"/>
          <p:cNvSpPr/>
          <p:nvPr/>
        </p:nvSpPr>
        <p:spPr>
          <a:xfrm>
            <a:off x="4971901" y="1032718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APPROACH</a:t>
            </a:r>
            <a:endParaRPr lang="en-US" sz="560" dirty="0"/>
          </a:p>
        </p:txBody>
      </p:sp>
      <p:sp>
        <p:nvSpPr>
          <p:cNvPr id="65" name="Text 60"/>
          <p:cNvSpPr/>
          <p:nvPr/>
        </p:nvSpPr>
        <p:spPr>
          <a:xfrm>
            <a:off x="5872163" y="1017687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Sequential</a:t>
            </a:r>
            <a:endParaRPr lang="en-US" sz="700" dirty="0"/>
          </a:p>
        </p:txBody>
      </p:sp>
      <p:sp>
        <p:nvSpPr>
          <p:cNvPr id="66" name="Text 61"/>
          <p:cNvSpPr/>
          <p:nvPr/>
        </p:nvSpPr>
        <p:spPr>
          <a:xfrm>
            <a:off x="4743450" y="1282452"/>
            <a:ext cx="4000500" cy="404664"/>
          </a:xfrm>
          <a:prstGeom prst="rect">
            <a:avLst/>
          </a:prstGeom>
          <a:solidFill>
            <a:srgbClr val="F8FBF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2"/>
          <p:cNvSpPr/>
          <p:nvPr/>
        </p:nvSpPr>
        <p:spPr>
          <a:xfrm>
            <a:off x="4743450" y="1677591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3"/>
          <p:cNvSpPr/>
          <p:nvPr/>
        </p:nvSpPr>
        <p:spPr>
          <a:xfrm>
            <a:off x="4857750" y="1458367"/>
            <a:ext cx="43160" cy="43160"/>
          </a:xfrm>
          <a:prstGeom prst="ellipse">
            <a:avLst/>
          </a:prstGeom>
          <a:solidFill>
            <a:srgbClr val="0D1B2A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4"/>
          <p:cNvSpPr/>
          <p:nvPr/>
        </p:nvSpPr>
        <p:spPr>
          <a:xfrm>
            <a:off x="4971901" y="1437382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PLANNING</a:t>
            </a:r>
            <a:endParaRPr lang="en-US" sz="560" dirty="0"/>
          </a:p>
        </p:txBody>
      </p:sp>
      <p:sp>
        <p:nvSpPr>
          <p:cNvPr id="70" name="Text 65"/>
          <p:cNvSpPr/>
          <p:nvPr/>
        </p:nvSpPr>
        <p:spPr>
          <a:xfrm>
            <a:off x="5872163" y="1422202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upfront planning</a:t>
            </a:r>
            <a:endParaRPr lang="en-US" sz="700" dirty="0"/>
          </a:p>
        </p:txBody>
      </p:sp>
      <p:sp>
        <p:nvSpPr>
          <p:cNvPr id="71" name="Text 66"/>
          <p:cNvSpPr/>
          <p:nvPr/>
        </p:nvSpPr>
        <p:spPr>
          <a:xfrm>
            <a:off x="4743450" y="2082105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7"/>
          <p:cNvSpPr/>
          <p:nvPr/>
        </p:nvSpPr>
        <p:spPr>
          <a:xfrm>
            <a:off x="4857750" y="1863030"/>
            <a:ext cx="43160" cy="43160"/>
          </a:xfrm>
          <a:prstGeom prst="ellipse">
            <a:avLst/>
          </a:prstGeom>
          <a:solidFill>
            <a:srgbClr val="0D1B2A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8"/>
          <p:cNvSpPr/>
          <p:nvPr/>
        </p:nvSpPr>
        <p:spPr>
          <a:xfrm>
            <a:off x="4971901" y="1841897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</a:t>
            </a:r>
            <a:endParaRPr lang="en-US" sz="560" dirty="0"/>
          </a:p>
        </p:txBody>
      </p:sp>
      <p:sp>
        <p:nvSpPr>
          <p:cNvPr id="74" name="Text 69"/>
          <p:cNvSpPr/>
          <p:nvPr/>
        </p:nvSpPr>
        <p:spPr>
          <a:xfrm>
            <a:off x="5872163" y="1826865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after requirements phase</a:t>
            </a:r>
            <a:endParaRPr lang="en-US" sz="700" dirty="0"/>
          </a:p>
        </p:txBody>
      </p:sp>
      <p:sp>
        <p:nvSpPr>
          <p:cNvPr id="75" name="Text 70"/>
          <p:cNvSpPr/>
          <p:nvPr/>
        </p:nvSpPr>
        <p:spPr>
          <a:xfrm>
            <a:off x="4743450" y="2091630"/>
            <a:ext cx="4000500" cy="404515"/>
          </a:xfrm>
          <a:prstGeom prst="rect">
            <a:avLst/>
          </a:prstGeom>
          <a:solidFill>
            <a:srgbClr val="F8FBF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1"/>
          <p:cNvSpPr/>
          <p:nvPr/>
        </p:nvSpPr>
        <p:spPr>
          <a:xfrm>
            <a:off x="4743450" y="2486620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2"/>
          <p:cNvSpPr/>
          <p:nvPr/>
        </p:nvSpPr>
        <p:spPr>
          <a:xfrm>
            <a:off x="4857750" y="2267545"/>
            <a:ext cx="43160" cy="43160"/>
          </a:xfrm>
          <a:prstGeom prst="ellipse">
            <a:avLst/>
          </a:prstGeom>
          <a:solidFill>
            <a:srgbClr val="0D1B2A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3"/>
          <p:cNvSpPr/>
          <p:nvPr/>
        </p:nvSpPr>
        <p:spPr>
          <a:xfrm>
            <a:off x="4971901" y="2246412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DELIVERY</a:t>
            </a:r>
            <a:endParaRPr lang="en-US" sz="560" dirty="0"/>
          </a:p>
        </p:txBody>
      </p:sp>
      <p:sp>
        <p:nvSpPr>
          <p:cNvPr id="79" name="Text 74"/>
          <p:cNvSpPr/>
          <p:nvPr/>
        </p:nvSpPr>
        <p:spPr>
          <a:xfrm>
            <a:off x="5872163" y="2231380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delivery at project end</a:t>
            </a:r>
            <a:endParaRPr lang="en-US" sz="700" dirty="0"/>
          </a:p>
        </p:txBody>
      </p:sp>
      <p:sp>
        <p:nvSpPr>
          <p:cNvPr id="80" name="Text 75"/>
          <p:cNvSpPr/>
          <p:nvPr/>
        </p:nvSpPr>
        <p:spPr>
          <a:xfrm>
            <a:off x="4743450" y="2891135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6"/>
          <p:cNvSpPr/>
          <p:nvPr/>
        </p:nvSpPr>
        <p:spPr>
          <a:xfrm>
            <a:off x="4857750" y="2672060"/>
            <a:ext cx="43160" cy="43160"/>
          </a:xfrm>
          <a:prstGeom prst="ellipse">
            <a:avLst/>
          </a:prstGeom>
          <a:solidFill>
            <a:srgbClr val="0D1B2A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7"/>
          <p:cNvSpPr/>
          <p:nvPr/>
        </p:nvSpPr>
        <p:spPr>
          <a:xfrm>
            <a:off x="4971901" y="2608362"/>
            <a:ext cx="845856" cy="179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INVOLVEMENT</a:t>
            </a:r>
            <a:endParaRPr lang="en-US" sz="560" dirty="0"/>
          </a:p>
        </p:txBody>
      </p:sp>
      <p:sp>
        <p:nvSpPr>
          <p:cNvPr id="83" name="Text 78"/>
          <p:cNvSpPr/>
          <p:nvPr/>
        </p:nvSpPr>
        <p:spPr>
          <a:xfrm>
            <a:off x="5872163" y="2635895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upfront, minimal during build</a:t>
            </a:r>
            <a:endParaRPr lang="en-US" sz="700" dirty="0"/>
          </a:p>
        </p:txBody>
      </p:sp>
      <p:sp>
        <p:nvSpPr>
          <p:cNvPr id="84" name="Text 79"/>
          <p:cNvSpPr/>
          <p:nvPr/>
        </p:nvSpPr>
        <p:spPr>
          <a:xfrm>
            <a:off x="4743450" y="2900660"/>
            <a:ext cx="4000500" cy="404515"/>
          </a:xfrm>
          <a:prstGeom prst="rect">
            <a:avLst/>
          </a:prstGeom>
          <a:solidFill>
            <a:srgbClr val="F8FBF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0"/>
          <p:cNvSpPr/>
          <p:nvPr/>
        </p:nvSpPr>
        <p:spPr>
          <a:xfrm>
            <a:off x="4743450" y="3295650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1"/>
          <p:cNvSpPr/>
          <p:nvPr/>
        </p:nvSpPr>
        <p:spPr>
          <a:xfrm>
            <a:off x="4857750" y="3076575"/>
            <a:ext cx="43160" cy="43160"/>
          </a:xfrm>
          <a:prstGeom prst="ellipse">
            <a:avLst/>
          </a:prstGeom>
          <a:solidFill>
            <a:srgbClr val="0D1B2A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2"/>
          <p:cNvSpPr/>
          <p:nvPr/>
        </p:nvSpPr>
        <p:spPr>
          <a:xfrm>
            <a:off x="4971901" y="3055441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TESTING</a:t>
            </a:r>
            <a:endParaRPr lang="en-US" sz="560" dirty="0"/>
          </a:p>
        </p:txBody>
      </p:sp>
      <p:sp>
        <p:nvSpPr>
          <p:cNvPr id="88" name="Text 83"/>
          <p:cNvSpPr/>
          <p:nvPr/>
        </p:nvSpPr>
        <p:spPr>
          <a:xfrm>
            <a:off x="5872163" y="3040410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phase near project end</a:t>
            </a:r>
            <a:endParaRPr lang="en-US" sz="700" dirty="0"/>
          </a:p>
        </p:txBody>
      </p:sp>
      <p:sp>
        <p:nvSpPr>
          <p:cNvPr id="89" name="Text 84"/>
          <p:cNvSpPr/>
          <p:nvPr/>
        </p:nvSpPr>
        <p:spPr>
          <a:xfrm>
            <a:off x="4743450" y="3700165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5"/>
          <p:cNvSpPr/>
          <p:nvPr/>
        </p:nvSpPr>
        <p:spPr>
          <a:xfrm>
            <a:off x="4857750" y="3481090"/>
            <a:ext cx="43160" cy="43160"/>
          </a:xfrm>
          <a:prstGeom prst="ellipse">
            <a:avLst/>
          </a:prstGeom>
          <a:solidFill>
            <a:srgbClr val="0D1B2A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6"/>
          <p:cNvSpPr/>
          <p:nvPr/>
        </p:nvSpPr>
        <p:spPr>
          <a:xfrm>
            <a:off x="4971901" y="3459956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MGMT</a:t>
            </a:r>
            <a:endParaRPr lang="en-US" sz="560" dirty="0"/>
          </a:p>
        </p:txBody>
      </p:sp>
      <p:sp>
        <p:nvSpPr>
          <p:cNvPr id="92" name="Text 87"/>
          <p:cNvSpPr/>
          <p:nvPr/>
        </p:nvSpPr>
        <p:spPr>
          <a:xfrm>
            <a:off x="5872163" y="3444925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Costly; requires formal change orders</a:t>
            </a:r>
            <a:endParaRPr lang="en-US" sz="700" dirty="0"/>
          </a:p>
        </p:txBody>
      </p:sp>
      <p:sp>
        <p:nvSpPr>
          <p:cNvPr id="93" name="Text 88"/>
          <p:cNvSpPr/>
          <p:nvPr/>
        </p:nvSpPr>
        <p:spPr>
          <a:xfrm>
            <a:off x="4743450" y="3709690"/>
            <a:ext cx="4000500" cy="404515"/>
          </a:xfrm>
          <a:prstGeom prst="rect">
            <a:avLst/>
          </a:prstGeom>
          <a:solidFill>
            <a:srgbClr val="F8FBF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89"/>
          <p:cNvSpPr/>
          <p:nvPr/>
        </p:nvSpPr>
        <p:spPr>
          <a:xfrm>
            <a:off x="4743450" y="4104680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0"/>
          <p:cNvSpPr/>
          <p:nvPr/>
        </p:nvSpPr>
        <p:spPr>
          <a:xfrm>
            <a:off x="4857750" y="3885605"/>
            <a:ext cx="43160" cy="43160"/>
          </a:xfrm>
          <a:prstGeom prst="ellipse">
            <a:avLst/>
          </a:prstGeom>
          <a:solidFill>
            <a:srgbClr val="0D1B2A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1"/>
          <p:cNvSpPr/>
          <p:nvPr/>
        </p:nvSpPr>
        <p:spPr>
          <a:xfrm>
            <a:off x="4971901" y="3864471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</a:t>
            </a:r>
            <a:endParaRPr lang="en-US" sz="560" dirty="0"/>
          </a:p>
        </p:txBody>
      </p:sp>
      <p:sp>
        <p:nvSpPr>
          <p:cNvPr id="97" name="Text 92"/>
          <p:cNvSpPr/>
          <p:nvPr/>
        </p:nvSpPr>
        <p:spPr>
          <a:xfrm>
            <a:off x="5872163" y="3849439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late; expensive to fix</a:t>
            </a:r>
            <a:endParaRPr lang="en-US" sz="700" dirty="0"/>
          </a:p>
        </p:txBody>
      </p:sp>
      <p:sp>
        <p:nvSpPr>
          <p:cNvPr id="98" name="Text 93"/>
          <p:cNvSpPr/>
          <p:nvPr/>
        </p:nvSpPr>
        <p:spPr>
          <a:xfrm>
            <a:off x="4743450" y="4509195"/>
            <a:ext cx="4000500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4"/>
          <p:cNvSpPr/>
          <p:nvPr/>
        </p:nvSpPr>
        <p:spPr>
          <a:xfrm>
            <a:off x="4857750" y="4290120"/>
            <a:ext cx="43160" cy="43160"/>
          </a:xfrm>
          <a:prstGeom prst="ellipse">
            <a:avLst/>
          </a:prstGeom>
          <a:solidFill>
            <a:srgbClr val="0D1B2A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5"/>
          <p:cNvSpPr/>
          <p:nvPr/>
        </p:nvSpPr>
        <p:spPr>
          <a:xfrm>
            <a:off x="4971901" y="4268986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TEAM STRUCTURE</a:t>
            </a:r>
            <a:endParaRPr lang="en-US" sz="560" dirty="0"/>
          </a:p>
        </p:txBody>
      </p:sp>
      <p:sp>
        <p:nvSpPr>
          <p:cNvPr id="101" name="Text 96"/>
          <p:cNvSpPr/>
          <p:nvPr/>
        </p:nvSpPr>
        <p:spPr>
          <a:xfrm>
            <a:off x="5872163" y="4253954"/>
            <a:ext cx="303323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Role-specialized, hierarchical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4743450" y="4518720"/>
            <a:ext cx="4000500" cy="394990"/>
          </a:xfrm>
          <a:prstGeom prst="rect">
            <a:avLst/>
          </a:prstGeom>
          <a:solidFill>
            <a:srgbClr val="F4F5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9035" y="4649846"/>
            <a:ext cx="132588" cy="132588"/>
          </a:xfrm>
          <a:prstGeom prst="rect">
            <a:avLst/>
          </a:prstGeom>
        </p:spPr>
      </p:pic>
      <p:sp>
        <p:nvSpPr>
          <p:cNvPr id="104" name="Text 98"/>
          <p:cNvSpPr/>
          <p:nvPr/>
        </p:nvSpPr>
        <p:spPr>
          <a:xfrm>
            <a:off x="5003899" y="4673501"/>
            <a:ext cx="912197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560" b="1" dirty="0">
                <a:solidFill>
                  <a:srgbClr val="2A3F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FOR</a:t>
            </a:r>
            <a:endParaRPr lang="en-US" sz="560" dirty="0"/>
          </a:p>
        </p:txBody>
      </p:sp>
      <p:sp>
        <p:nvSpPr>
          <p:cNvPr id="105" name="Text 99"/>
          <p:cNvSpPr/>
          <p:nvPr/>
        </p:nvSpPr>
        <p:spPr>
          <a:xfrm>
            <a:off x="5904161" y="4658469"/>
            <a:ext cx="299803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2A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well-defined, compliance-driven projects</a:t>
            </a:r>
            <a:endParaRPr lang="en-US" sz="700" dirty="0"/>
          </a:p>
        </p:txBody>
      </p:sp>
      <p:sp>
        <p:nvSpPr>
          <p:cNvPr id="106" name="Text 100"/>
          <p:cNvSpPr/>
          <p:nvPr/>
        </p:nvSpPr>
        <p:spPr>
          <a:xfrm>
            <a:off x="400050" y="4968180"/>
            <a:ext cx="323247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i="1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Schwaber &amp; Sutherland (2020). The Scrum Guide; Denning (2018). The Age of Agile.</a:t>
            </a:r>
            <a:endParaRPr lang="en-US" sz="560" dirty="0"/>
          </a:p>
        </p:txBody>
      </p:sp>
      <p:sp>
        <p:nvSpPr>
          <p:cNvPr id="107" name="Text 101"/>
          <p:cNvSpPr/>
          <p:nvPr/>
        </p:nvSpPr>
        <p:spPr>
          <a:xfrm>
            <a:off x="8122593" y="4956870"/>
            <a:ext cx="68349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CHADATECH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FB8CD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FB8CD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286000" cy="1286470"/>
          </a:xfrm>
          <a:prstGeom prst="rect">
            <a:avLst/>
          </a:prstGeom>
          <a:gradFill rotWithShape="1">
            <a:gsLst>
              <a:gs pos="0">
                <a:srgbClr val="1FB8CD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0" y="4000500"/>
            <a:ext cx="2000250" cy="1143000"/>
          </a:xfrm>
          <a:prstGeom prst="rect">
            <a:avLst/>
          </a:prstGeom>
          <a:gradFill rotWithShape="1">
            <a:gsLst>
              <a:gs pos="0">
                <a:srgbClr val="E05540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200620"/>
            <a:ext cx="285750" cy="21580"/>
          </a:xfrm>
          <a:prstGeom prst="roundRect">
            <a:avLst>
              <a:gd name="adj" fmla="val 64736"/>
            </a:avLst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279350"/>
            <a:ext cx="8927973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spc="-2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SNHU Travel: </a:t>
            </a:r>
            <a:pPr algn="l" indent="0" marL="0">
              <a:lnSpc>
                <a:spcPts val="1980"/>
              </a:lnSpc>
              <a:buNone/>
            </a:pPr>
            <a:r>
              <a:rPr lang="en-US" sz="1800" spc="-20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Waterfall vs. Agile</a:t>
            </a:r>
            <a:pPr algn="l" indent="0" marL="0">
              <a:lnSpc>
                <a:spcPts val="1980"/>
              </a:lnSpc>
              <a:buNone/>
            </a:pPr>
            <a:r>
              <a:rPr lang="en-US" sz="1800" spc="-2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 Practice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0050" y="559891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Bef>
                <a:spcPts val="230"/>
              </a:spcBef>
              <a:buNone/>
            </a:pPr>
            <a:r>
              <a:rPr lang="en-US" sz="790" spc="20" kern="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methodology choice shapes the product and the outcome.</a:t>
            </a:r>
            <a:endParaRPr lang="en-US" sz="790" dirty="0"/>
          </a:p>
        </p:txBody>
      </p:sp>
      <p:sp>
        <p:nvSpPr>
          <p:cNvPr id="9" name="Text 7"/>
          <p:cNvSpPr/>
          <p:nvPr/>
        </p:nvSpPr>
        <p:spPr>
          <a:xfrm>
            <a:off x="342900" y="810667"/>
            <a:ext cx="4171950" cy="4014490"/>
          </a:xfrm>
          <a:prstGeom prst="roundRect">
            <a:avLst>
              <a:gd name="adj" fmla="val 2151"/>
            </a:avLst>
          </a:prstGeom>
          <a:gradFill rotWithShape="1">
            <a:gsLst>
              <a:gs pos="0">
                <a:srgbClr val="DC503C">
                  <a:alpha val="13000"/>
                </a:srgbClr>
              </a:gs>
              <a:gs pos="60000">
                <a:srgbClr val="162236">
                  <a:alpha val="95000"/>
                </a:srgbClr>
              </a:gs>
            </a:gsLst>
            <a:lin ang="4200000" scaled="1"/>
          </a:gradFill>
          <a:ln w="9525">
            <a:solidFill>
              <a:srgbClr val="E05540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98106" y="4276576"/>
            <a:ext cx="536228" cy="4819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52425" y="820192"/>
            <a:ext cx="4152900" cy="424755"/>
          </a:xfrm>
          <a:prstGeom prst="rect">
            <a:avLst/>
          </a:prstGeom>
          <a:solidFill>
            <a:srgbClr val="E05540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2425" y="1235422"/>
            <a:ext cx="41529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566" y="920502"/>
            <a:ext cx="228600" cy="228600"/>
          </a:xfrm>
          <a:prstGeom prst="ellipse">
            <a:avLst/>
          </a:prstGeom>
          <a:solidFill>
            <a:srgbClr val="E05540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572" y="968508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0157" y="954732"/>
            <a:ext cx="212545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07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SNHU TRAVEL UNDER WATERFALL</a:t>
            </a:r>
            <a:endParaRPr lang="en-US" sz="840" dirty="0"/>
          </a:p>
        </p:txBody>
      </p:sp>
      <p:sp>
        <p:nvSpPr>
          <p:cNvPr id="16" name="Text 12"/>
          <p:cNvSpPr/>
          <p:nvPr/>
        </p:nvSpPr>
        <p:spPr>
          <a:xfrm>
            <a:off x="3658642" y="944612"/>
            <a:ext cx="718542" cy="198254"/>
          </a:xfrm>
          <a:prstGeom prst="roundRect">
            <a:avLst>
              <a:gd name="adj" fmla="val 72387"/>
            </a:avLst>
          </a:prstGeom>
          <a:solidFill>
            <a:srgbClr val="E05540">
              <a:alpha val="18000"/>
            </a:srgbClr>
          </a:solidFill>
          <a:ln w="9525">
            <a:solidFill>
              <a:srgbClr val="E05540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620" dirty="0"/>
          </a:p>
        </p:txBody>
      </p:sp>
      <p:sp>
        <p:nvSpPr>
          <p:cNvPr id="17" name="Text 13"/>
          <p:cNvSpPr/>
          <p:nvPr/>
        </p:nvSpPr>
        <p:spPr>
          <a:xfrm>
            <a:off x="466725" y="1331268"/>
            <a:ext cx="3924300" cy="350937"/>
          </a:xfrm>
          <a:prstGeom prst="roundRect">
            <a:avLst>
              <a:gd name="adj" fmla="val 16285"/>
            </a:avLst>
          </a:prstGeom>
          <a:solidFill>
            <a:srgbClr val="E05540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66725" y="1331268"/>
            <a:ext cx="19050" cy="350937"/>
          </a:xfrm>
          <a:custGeom>
            <a:avLst/>
            <a:gdLst/>
            <a:ahLst/>
            <a:cxnLst/>
            <a:rect l="l" t="t" r="r" b="b"/>
            <a:pathLst>
              <a:path w="19050" h="35093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36384"/>
                </a:lnTo>
                <a:lnTo>
                  <a:pt x="16669" y="334128"/>
                </a:lnTo>
                <a:lnTo>
                  <a:pt x="14288" y="331588"/>
                </a:lnTo>
                <a:lnTo>
                  <a:pt x="11906" y="328703"/>
                </a:lnTo>
                <a:lnTo>
                  <a:pt x="9525" y="325378"/>
                </a:lnTo>
                <a:lnTo>
                  <a:pt x="7144" y="321454"/>
                </a:lnTo>
                <a:lnTo>
                  <a:pt x="4763" y="316627"/>
                </a:lnTo>
                <a:lnTo>
                  <a:pt x="2381" y="310112"/>
                </a:lnTo>
                <a:lnTo>
                  <a:pt x="0" y="293787"/>
                </a:lnTo>
                <a:close/>
              </a:path>
            </a:pathLst>
          </a:custGeom>
          <a:solidFill>
            <a:srgbClr val="E05540">
              <a:alpha val="3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0432" y="1361935"/>
            <a:ext cx="132588" cy="132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7678" y="1380679"/>
            <a:ext cx="3684603" cy="26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4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for all travel features frozen in Month 1 — no room for evolving traveler preferences.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466725" y="1731615"/>
            <a:ext cx="3924300" cy="350937"/>
          </a:xfrm>
          <a:prstGeom prst="roundRect">
            <a:avLst>
              <a:gd name="adj" fmla="val 16285"/>
            </a:avLst>
          </a:prstGeom>
          <a:solidFill>
            <a:srgbClr val="E05540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66725" y="1731615"/>
            <a:ext cx="19050" cy="350937"/>
          </a:xfrm>
          <a:custGeom>
            <a:avLst/>
            <a:gdLst/>
            <a:ahLst/>
            <a:cxnLst/>
            <a:rect l="l" t="t" r="r" b="b"/>
            <a:pathLst>
              <a:path w="19050" h="35093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36384"/>
                </a:lnTo>
                <a:lnTo>
                  <a:pt x="16669" y="334128"/>
                </a:lnTo>
                <a:lnTo>
                  <a:pt x="14288" y="331588"/>
                </a:lnTo>
                <a:lnTo>
                  <a:pt x="11906" y="328703"/>
                </a:lnTo>
                <a:lnTo>
                  <a:pt x="9525" y="325378"/>
                </a:lnTo>
                <a:lnTo>
                  <a:pt x="7144" y="321454"/>
                </a:lnTo>
                <a:lnTo>
                  <a:pt x="4763" y="316627"/>
                </a:lnTo>
                <a:lnTo>
                  <a:pt x="2381" y="310112"/>
                </a:lnTo>
                <a:lnTo>
                  <a:pt x="0" y="293787"/>
                </a:lnTo>
                <a:close/>
              </a:path>
            </a:pathLst>
          </a:custGeom>
          <a:solidFill>
            <a:srgbClr val="E05540">
              <a:alpha val="3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0432" y="1762283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7678" y="1781026"/>
            <a:ext cx="3684603" cy="26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4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build, and test occur in sequential phases spanning 12–18 months before any user feedback.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466725" y="2131963"/>
            <a:ext cx="3924300" cy="350937"/>
          </a:xfrm>
          <a:prstGeom prst="roundRect">
            <a:avLst>
              <a:gd name="adj" fmla="val 16285"/>
            </a:avLst>
          </a:prstGeom>
          <a:solidFill>
            <a:srgbClr val="E05540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66725" y="2131963"/>
            <a:ext cx="19050" cy="350937"/>
          </a:xfrm>
          <a:custGeom>
            <a:avLst/>
            <a:gdLst/>
            <a:ahLst/>
            <a:cxnLst/>
            <a:rect l="l" t="t" r="r" b="b"/>
            <a:pathLst>
              <a:path w="19050" h="35093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36384"/>
                </a:lnTo>
                <a:lnTo>
                  <a:pt x="16669" y="334128"/>
                </a:lnTo>
                <a:lnTo>
                  <a:pt x="14288" y="331588"/>
                </a:lnTo>
                <a:lnTo>
                  <a:pt x="11906" y="328703"/>
                </a:lnTo>
                <a:lnTo>
                  <a:pt x="9525" y="325378"/>
                </a:lnTo>
                <a:lnTo>
                  <a:pt x="7144" y="321454"/>
                </a:lnTo>
                <a:lnTo>
                  <a:pt x="4763" y="316627"/>
                </a:lnTo>
                <a:lnTo>
                  <a:pt x="2381" y="310112"/>
                </a:lnTo>
                <a:lnTo>
                  <a:pt x="0" y="293787"/>
                </a:lnTo>
                <a:close/>
              </a:path>
            </a:pathLst>
          </a:custGeom>
          <a:solidFill>
            <a:srgbClr val="E05540">
              <a:alpha val="3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0432" y="2162630"/>
            <a:ext cx="132588" cy="132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7678" y="2181374"/>
            <a:ext cx="3684603" cy="26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4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UI usability issue found at Month 14 requires revisiting Month 2 design — extremely costly rework.</a:t>
            </a:r>
            <a:endParaRPr lang="en-US" sz="700" dirty="0"/>
          </a:p>
        </p:txBody>
      </p:sp>
      <p:sp>
        <p:nvSpPr>
          <p:cNvPr id="29" name="Text 22"/>
          <p:cNvSpPr/>
          <p:nvPr/>
        </p:nvSpPr>
        <p:spPr>
          <a:xfrm>
            <a:off x="466725" y="2532311"/>
            <a:ext cx="3924300" cy="350937"/>
          </a:xfrm>
          <a:prstGeom prst="roundRect">
            <a:avLst>
              <a:gd name="adj" fmla="val 16285"/>
            </a:avLst>
          </a:prstGeom>
          <a:solidFill>
            <a:srgbClr val="E05540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466725" y="2532311"/>
            <a:ext cx="19050" cy="350937"/>
          </a:xfrm>
          <a:custGeom>
            <a:avLst/>
            <a:gdLst/>
            <a:ahLst/>
            <a:cxnLst/>
            <a:rect l="l" t="t" r="r" b="b"/>
            <a:pathLst>
              <a:path w="19050" h="35093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36384"/>
                </a:lnTo>
                <a:lnTo>
                  <a:pt x="16669" y="334128"/>
                </a:lnTo>
                <a:lnTo>
                  <a:pt x="14288" y="331588"/>
                </a:lnTo>
                <a:lnTo>
                  <a:pt x="11906" y="328703"/>
                </a:lnTo>
                <a:lnTo>
                  <a:pt x="9525" y="325378"/>
                </a:lnTo>
                <a:lnTo>
                  <a:pt x="7144" y="321454"/>
                </a:lnTo>
                <a:lnTo>
                  <a:pt x="4763" y="316627"/>
                </a:lnTo>
                <a:lnTo>
                  <a:pt x="2381" y="310112"/>
                </a:lnTo>
                <a:lnTo>
                  <a:pt x="0" y="293787"/>
                </a:lnTo>
                <a:close/>
              </a:path>
            </a:pathLst>
          </a:custGeom>
          <a:solidFill>
            <a:srgbClr val="E05540">
              <a:alpha val="3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0432" y="2562978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678" y="2581721"/>
            <a:ext cx="3684603" cy="26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4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release new booking features mid-project; ChadaTech cannot adapt without a formal change order.</a:t>
            </a:r>
            <a:endParaRPr lang="en-US" sz="700" dirty="0"/>
          </a:p>
        </p:txBody>
      </p:sp>
      <p:sp>
        <p:nvSpPr>
          <p:cNvPr id="33" name="Text 25"/>
          <p:cNvSpPr/>
          <p:nvPr/>
        </p:nvSpPr>
        <p:spPr>
          <a:xfrm>
            <a:off x="466725" y="2932658"/>
            <a:ext cx="3924300" cy="350937"/>
          </a:xfrm>
          <a:prstGeom prst="roundRect">
            <a:avLst>
              <a:gd name="adj" fmla="val 16285"/>
            </a:avLst>
          </a:prstGeom>
          <a:solidFill>
            <a:srgbClr val="E05540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466725" y="2932658"/>
            <a:ext cx="19050" cy="350937"/>
          </a:xfrm>
          <a:custGeom>
            <a:avLst/>
            <a:gdLst/>
            <a:ahLst/>
            <a:cxnLst/>
            <a:rect l="l" t="t" r="r" b="b"/>
            <a:pathLst>
              <a:path w="19050" h="35093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36384"/>
                </a:lnTo>
                <a:lnTo>
                  <a:pt x="16669" y="334128"/>
                </a:lnTo>
                <a:lnTo>
                  <a:pt x="14288" y="331588"/>
                </a:lnTo>
                <a:lnTo>
                  <a:pt x="11906" y="328703"/>
                </a:lnTo>
                <a:lnTo>
                  <a:pt x="9525" y="325378"/>
                </a:lnTo>
                <a:lnTo>
                  <a:pt x="7144" y="321454"/>
                </a:lnTo>
                <a:lnTo>
                  <a:pt x="4763" y="316627"/>
                </a:lnTo>
                <a:lnTo>
                  <a:pt x="2381" y="310112"/>
                </a:lnTo>
                <a:lnTo>
                  <a:pt x="0" y="293787"/>
                </a:lnTo>
                <a:close/>
              </a:path>
            </a:pathLst>
          </a:custGeom>
          <a:solidFill>
            <a:srgbClr val="E05540">
              <a:alpha val="3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0432" y="2963326"/>
            <a:ext cx="132588" cy="132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07678" y="2982069"/>
            <a:ext cx="3684603" cy="26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4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delivered as a monolith — if one component fails QA, the entire release is delayed.</a:t>
            </a:r>
            <a:endParaRPr lang="en-US" sz="700" dirty="0"/>
          </a:p>
        </p:txBody>
      </p:sp>
      <p:sp>
        <p:nvSpPr>
          <p:cNvPr id="37" name="Text 28"/>
          <p:cNvSpPr/>
          <p:nvPr/>
        </p:nvSpPr>
        <p:spPr>
          <a:xfrm>
            <a:off x="466725" y="3333006"/>
            <a:ext cx="3924300" cy="350937"/>
          </a:xfrm>
          <a:prstGeom prst="roundRect">
            <a:avLst>
              <a:gd name="adj" fmla="val 16285"/>
            </a:avLst>
          </a:prstGeom>
          <a:solidFill>
            <a:srgbClr val="E05540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466725" y="3333006"/>
            <a:ext cx="19050" cy="350937"/>
          </a:xfrm>
          <a:custGeom>
            <a:avLst/>
            <a:gdLst/>
            <a:ahLst/>
            <a:cxnLst/>
            <a:rect l="l" t="t" r="r" b="b"/>
            <a:pathLst>
              <a:path w="19050" h="35093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36384"/>
                </a:lnTo>
                <a:lnTo>
                  <a:pt x="16669" y="334128"/>
                </a:lnTo>
                <a:lnTo>
                  <a:pt x="14288" y="331588"/>
                </a:lnTo>
                <a:lnTo>
                  <a:pt x="11906" y="328703"/>
                </a:lnTo>
                <a:lnTo>
                  <a:pt x="9525" y="325378"/>
                </a:lnTo>
                <a:lnTo>
                  <a:pt x="7144" y="321454"/>
                </a:lnTo>
                <a:lnTo>
                  <a:pt x="4763" y="316627"/>
                </a:lnTo>
                <a:lnTo>
                  <a:pt x="2381" y="310112"/>
                </a:lnTo>
                <a:lnTo>
                  <a:pt x="0" y="293787"/>
                </a:lnTo>
                <a:close/>
              </a:path>
            </a:pathLst>
          </a:custGeom>
          <a:solidFill>
            <a:srgbClr val="E05540">
              <a:alpha val="3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0432" y="3363673"/>
            <a:ext cx="132588" cy="13258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07678" y="3382417"/>
            <a:ext cx="3684603" cy="26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4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dissatisfaction risk: the delivered product may not reflect what users actually need in today's market.</a:t>
            </a:r>
            <a:endParaRPr lang="en-US" sz="700" dirty="0"/>
          </a:p>
        </p:txBody>
      </p:sp>
      <p:sp>
        <p:nvSpPr>
          <p:cNvPr id="41" name="Text 31"/>
          <p:cNvSpPr/>
          <p:nvPr/>
        </p:nvSpPr>
        <p:spPr>
          <a:xfrm>
            <a:off x="4629150" y="810667"/>
            <a:ext cx="4171950" cy="4014490"/>
          </a:xfrm>
          <a:prstGeom prst="roundRect">
            <a:avLst>
              <a:gd name="adj" fmla="val 2151"/>
            </a:avLst>
          </a:prstGeom>
          <a:gradFill rotWithShape="1">
            <a:gsLst>
              <a:gs pos="0">
                <a:srgbClr val="1FB8CD">
                  <a:alpha val="13000"/>
                </a:srgbClr>
              </a:gs>
              <a:gs pos="60000">
                <a:srgbClr val="162236">
                  <a:alpha val="95000"/>
                </a:srgbClr>
              </a:gs>
            </a:gsLst>
            <a:lin ang="4200000" scaled="1"/>
          </a:gradFill>
          <a:ln w="9525">
            <a:solidFill>
              <a:srgbClr val="1FB8CD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7">
            <a:alphaModFix amt="6000"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31076" y="4168973"/>
            <a:ext cx="589508" cy="58950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638675" y="820192"/>
            <a:ext cx="4152900" cy="424755"/>
          </a:xfrm>
          <a:prstGeom prst="rect">
            <a:avLst/>
          </a:prstGeom>
          <a:solidFill>
            <a:srgbClr val="1FB8CD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3"/>
          <p:cNvSpPr/>
          <p:nvPr/>
        </p:nvSpPr>
        <p:spPr>
          <a:xfrm>
            <a:off x="4638675" y="1235422"/>
            <a:ext cx="41529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4"/>
          <p:cNvSpPr/>
          <p:nvPr/>
        </p:nvSpPr>
        <p:spPr>
          <a:xfrm>
            <a:off x="4766816" y="920502"/>
            <a:ext cx="228600" cy="228600"/>
          </a:xfrm>
          <a:prstGeom prst="ellipse">
            <a:avLst/>
          </a:prstGeom>
          <a:solidFill>
            <a:srgbClr val="1FB8CD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14822" y="968508"/>
            <a:ext cx="132588" cy="13258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066407" y="954732"/>
            <a:ext cx="175498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SNHU TRAVEL UNDER AGILE</a:t>
            </a:r>
            <a:endParaRPr lang="en-US" sz="840" dirty="0"/>
          </a:p>
        </p:txBody>
      </p:sp>
      <p:sp>
        <p:nvSpPr>
          <p:cNvPr id="48" name="Text 36"/>
          <p:cNvSpPr/>
          <p:nvPr/>
        </p:nvSpPr>
        <p:spPr>
          <a:xfrm>
            <a:off x="8053090" y="944612"/>
            <a:ext cx="610344" cy="198254"/>
          </a:xfrm>
          <a:prstGeom prst="roundRect">
            <a:avLst>
              <a:gd name="adj" fmla="val 72387"/>
            </a:avLst>
          </a:prstGeom>
          <a:solidFill>
            <a:srgbClr val="1FB8CD">
              <a:alpha val="18000"/>
            </a:srgbClr>
          </a:solidFill>
          <a:ln w="9525">
            <a:solidFill>
              <a:srgbClr val="1FB8CD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620" dirty="0"/>
          </a:p>
        </p:txBody>
      </p:sp>
      <p:sp>
        <p:nvSpPr>
          <p:cNvPr id="49" name="Text 37"/>
          <p:cNvSpPr/>
          <p:nvPr/>
        </p:nvSpPr>
        <p:spPr>
          <a:xfrm>
            <a:off x="4752975" y="1331268"/>
            <a:ext cx="3924300" cy="350937"/>
          </a:xfrm>
          <a:prstGeom prst="roundRect">
            <a:avLst>
              <a:gd name="adj" fmla="val 16285"/>
            </a:avLst>
          </a:prstGeom>
          <a:solidFill>
            <a:srgbClr val="1FB8CD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8"/>
          <p:cNvSpPr/>
          <p:nvPr/>
        </p:nvSpPr>
        <p:spPr>
          <a:xfrm>
            <a:off x="4752975" y="1331268"/>
            <a:ext cx="19050" cy="350937"/>
          </a:xfrm>
          <a:custGeom>
            <a:avLst/>
            <a:gdLst/>
            <a:ahLst/>
            <a:cxnLst/>
            <a:rect l="l" t="t" r="r" b="b"/>
            <a:pathLst>
              <a:path w="19050" h="35093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36384"/>
                </a:lnTo>
                <a:lnTo>
                  <a:pt x="16669" y="334128"/>
                </a:lnTo>
                <a:lnTo>
                  <a:pt x="14288" y="331588"/>
                </a:lnTo>
                <a:lnTo>
                  <a:pt x="11906" y="328703"/>
                </a:lnTo>
                <a:lnTo>
                  <a:pt x="9525" y="325378"/>
                </a:lnTo>
                <a:lnTo>
                  <a:pt x="7144" y="321454"/>
                </a:lnTo>
                <a:lnTo>
                  <a:pt x="4763" y="316627"/>
                </a:lnTo>
                <a:lnTo>
                  <a:pt x="2381" y="310112"/>
                </a:lnTo>
                <a:lnTo>
                  <a:pt x="0" y="293787"/>
                </a:lnTo>
                <a:close/>
              </a:path>
            </a:pathLst>
          </a:custGeom>
          <a:solidFill>
            <a:srgbClr val="1FB8CD">
              <a:alpha val="3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816682" y="1361935"/>
            <a:ext cx="132588" cy="132588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4993928" y="1380679"/>
            <a:ext cx="3684603" cy="26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4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Flight search and booking MVP delivered and validated by real users in 2 weeks.</a:t>
            </a:r>
            <a:endParaRPr lang="en-US" sz="700" dirty="0"/>
          </a:p>
        </p:txBody>
      </p:sp>
      <p:sp>
        <p:nvSpPr>
          <p:cNvPr id="53" name="Text 40"/>
          <p:cNvSpPr/>
          <p:nvPr/>
        </p:nvSpPr>
        <p:spPr>
          <a:xfrm>
            <a:off x="4752975" y="1731615"/>
            <a:ext cx="3924300" cy="350937"/>
          </a:xfrm>
          <a:prstGeom prst="roundRect">
            <a:avLst>
              <a:gd name="adj" fmla="val 16285"/>
            </a:avLst>
          </a:prstGeom>
          <a:solidFill>
            <a:srgbClr val="1FB8CD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1"/>
          <p:cNvSpPr/>
          <p:nvPr/>
        </p:nvSpPr>
        <p:spPr>
          <a:xfrm>
            <a:off x="4752975" y="1731615"/>
            <a:ext cx="19050" cy="350937"/>
          </a:xfrm>
          <a:custGeom>
            <a:avLst/>
            <a:gdLst/>
            <a:ahLst/>
            <a:cxnLst/>
            <a:rect l="l" t="t" r="r" b="b"/>
            <a:pathLst>
              <a:path w="19050" h="35093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36384"/>
                </a:lnTo>
                <a:lnTo>
                  <a:pt x="16669" y="334128"/>
                </a:lnTo>
                <a:lnTo>
                  <a:pt x="14288" y="331588"/>
                </a:lnTo>
                <a:lnTo>
                  <a:pt x="11906" y="328703"/>
                </a:lnTo>
                <a:lnTo>
                  <a:pt x="9525" y="325378"/>
                </a:lnTo>
                <a:lnTo>
                  <a:pt x="7144" y="321454"/>
                </a:lnTo>
                <a:lnTo>
                  <a:pt x="4763" y="316627"/>
                </a:lnTo>
                <a:lnTo>
                  <a:pt x="2381" y="310112"/>
                </a:lnTo>
                <a:lnTo>
                  <a:pt x="0" y="293787"/>
                </a:lnTo>
                <a:close/>
              </a:path>
            </a:pathLst>
          </a:custGeom>
          <a:solidFill>
            <a:srgbClr val="1FB8CD">
              <a:alpha val="3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816682" y="1762283"/>
            <a:ext cx="132588" cy="132588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4993928" y="1781026"/>
            <a:ext cx="3684603" cy="26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4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User feedback reveals preference for hotel bundle offers — added to next Sprint backlog immediately.</a:t>
            </a:r>
            <a:endParaRPr lang="en-US" sz="700" dirty="0"/>
          </a:p>
        </p:txBody>
      </p:sp>
      <p:sp>
        <p:nvSpPr>
          <p:cNvPr id="57" name="Text 43"/>
          <p:cNvSpPr/>
          <p:nvPr/>
        </p:nvSpPr>
        <p:spPr>
          <a:xfrm>
            <a:off x="4752975" y="2131963"/>
            <a:ext cx="3924300" cy="350937"/>
          </a:xfrm>
          <a:prstGeom prst="roundRect">
            <a:avLst>
              <a:gd name="adj" fmla="val 16285"/>
            </a:avLst>
          </a:prstGeom>
          <a:solidFill>
            <a:srgbClr val="1FB8CD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4"/>
          <p:cNvSpPr/>
          <p:nvPr/>
        </p:nvSpPr>
        <p:spPr>
          <a:xfrm>
            <a:off x="4752975" y="2131963"/>
            <a:ext cx="19050" cy="350937"/>
          </a:xfrm>
          <a:custGeom>
            <a:avLst/>
            <a:gdLst/>
            <a:ahLst/>
            <a:cxnLst/>
            <a:rect l="l" t="t" r="r" b="b"/>
            <a:pathLst>
              <a:path w="19050" h="35093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36384"/>
                </a:lnTo>
                <a:lnTo>
                  <a:pt x="16669" y="334128"/>
                </a:lnTo>
                <a:lnTo>
                  <a:pt x="14288" y="331588"/>
                </a:lnTo>
                <a:lnTo>
                  <a:pt x="11906" y="328703"/>
                </a:lnTo>
                <a:lnTo>
                  <a:pt x="9525" y="325378"/>
                </a:lnTo>
                <a:lnTo>
                  <a:pt x="7144" y="321454"/>
                </a:lnTo>
                <a:lnTo>
                  <a:pt x="4763" y="316627"/>
                </a:lnTo>
                <a:lnTo>
                  <a:pt x="2381" y="310112"/>
                </a:lnTo>
                <a:lnTo>
                  <a:pt x="0" y="293787"/>
                </a:lnTo>
                <a:close/>
              </a:path>
            </a:pathLst>
          </a:custGeom>
          <a:solidFill>
            <a:srgbClr val="1FB8CD">
              <a:alpha val="3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816682" y="2162630"/>
            <a:ext cx="132588" cy="132588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4993928" y="2181374"/>
            <a:ext cx="3684603" cy="26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4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launches loyalty rewards — ChadaTech reprioritizes backlog and delivers a matching feature in Sprint 5.</a:t>
            </a:r>
            <a:endParaRPr lang="en-US" sz="700" dirty="0"/>
          </a:p>
        </p:txBody>
      </p:sp>
      <p:sp>
        <p:nvSpPr>
          <p:cNvPr id="61" name="Text 46"/>
          <p:cNvSpPr/>
          <p:nvPr/>
        </p:nvSpPr>
        <p:spPr>
          <a:xfrm>
            <a:off x="4752975" y="2532311"/>
            <a:ext cx="3924300" cy="350937"/>
          </a:xfrm>
          <a:prstGeom prst="roundRect">
            <a:avLst>
              <a:gd name="adj" fmla="val 16285"/>
            </a:avLst>
          </a:prstGeom>
          <a:solidFill>
            <a:srgbClr val="1FB8CD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47"/>
          <p:cNvSpPr/>
          <p:nvPr/>
        </p:nvSpPr>
        <p:spPr>
          <a:xfrm>
            <a:off x="4752975" y="2532311"/>
            <a:ext cx="19050" cy="350937"/>
          </a:xfrm>
          <a:custGeom>
            <a:avLst/>
            <a:gdLst/>
            <a:ahLst/>
            <a:cxnLst/>
            <a:rect l="l" t="t" r="r" b="b"/>
            <a:pathLst>
              <a:path w="19050" h="35093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36384"/>
                </a:lnTo>
                <a:lnTo>
                  <a:pt x="16669" y="334128"/>
                </a:lnTo>
                <a:lnTo>
                  <a:pt x="14288" y="331588"/>
                </a:lnTo>
                <a:lnTo>
                  <a:pt x="11906" y="328703"/>
                </a:lnTo>
                <a:lnTo>
                  <a:pt x="9525" y="325378"/>
                </a:lnTo>
                <a:lnTo>
                  <a:pt x="7144" y="321454"/>
                </a:lnTo>
                <a:lnTo>
                  <a:pt x="4763" y="316627"/>
                </a:lnTo>
                <a:lnTo>
                  <a:pt x="2381" y="310112"/>
                </a:lnTo>
                <a:lnTo>
                  <a:pt x="0" y="293787"/>
                </a:lnTo>
                <a:close/>
              </a:path>
            </a:pathLst>
          </a:custGeom>
          <a:solidFill>
            <a:srgbClr val="1FB8CD">
              <a:alpha val="3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816682" y="2562978"/>
            <a:ext cx="132588" cy="132588"/>
          </a:xfrm>
          <a:prstGeom prst="rect">
            <a:avLst/>
          </a:prstGeom>
        </p:spPr>
      </p:pic>
      <p:sp>
        <p:nvSpPr>
          <p:cNvPr id="64" name="Text 48"/>
          <p:cNvSpPr/>
          <p:nvPr/>
        </p:nvSpPr>
        <p:spPr>
          <a:xfrm>
            <a:off x="4993928" y="2581721"/>
            <a:ext cx="3684603" cy="26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4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produces a shippable increment — stakeholders see progress every 2 weeks, not in 18 months.</a:t>
            </a:r>
            <a:endParaRPr lang="en-US" sz="700" dirty="0"/>
          </a:p>
        </p:txBody>
      </p:sp>
      <p:sp>
        <p:nvSpPr>
          <p:cNvPr id="65" name="Text 49"/>
          <p:cNvSpPr/>
          <p:nvPr/>
        </p:nvSpPr>
        <p:spPr>
          <a:xfrm>
            <a:off x="4752975" y="2932658"/>
            <a:ext cx="3924300" cy="224879"/>
          </a:xfrm>
          <a:prstGeom prst="roundRect">
            <a:avLst>
              <a:gd name="adj" fmla="val 25414"/>
            </a:avLst>
          </a:prstGeom>
          <a:solidFill>
            <a:srgbClr val="1FB8C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0"/>
          <p:cNvSpPr/>
          <p:nvPr/>
        </p:nvSpPr>
        <p:spPr>
          <a:xfrm>
            <a:off x="4752975" y="2932658"/>
            <a:ext cx="19050" cy="224879"/>
          </a:xfrm>
          <a:custGeom>
            <a:avLst/>
            <a:gdLst/>
            <a:ahLst/>
            <a:cxnLst/>
            <a:rect l="l" t="t" r="r" b="b"/>
            <a:pathLst>
              <a:path w="19050" h="224879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10326"/>
                </a:lnTo>
                <a:lnTo>
                  <a:pt x="16669" y="208070"/>
                </a:lnTo>
                <a:lnTo>
                  <a:pt x="14288" y="205530"/>
                </a:lnTo>
                <a:lnTo>
                  <a:pt x="11906" y="202645"/>
                </a:lnTo>
                <a:lnTo>
                  <a:pt x="9525" y="199320"/>
                </a:lnTo>
                <a:lnTo>
                  <a:pt x="7144" y="195397"/>
                </a:lnTo>
                <a:lnTo>
                  <a:pt x="4763" y="190569"/>
                </a:lnTo>
                <a:lnTo>
                  <a:pt x="2381" y="184054"/>
                </a:lnTo>
                <a:lnTo>
                  <a:pt x="0" y="167729"/>
                </a:lnTo>
                <a:close/>
              </a:path>
            </a:pathLst>
          </a:custGeom>
          <a:solidFill>
            <a:srgbClr val="1FB8CD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7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816682" y="2963326"/>
            <a:ext cx="132588" cy="132588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4993928" y="2982069"/>
            <a:ext cx="3965734" cy="1260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94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discovered and fixed within the Sprint — never accumulate into a testing bottleneck.</a:t>
            </a:r>
            <a:endParaRPr lang="en-US" sz="700" dirty="0"/>
          </a:p>
        </p:txBody>
      </p:sp>
      <p:sp>
        <p:nvSpPr>
          <p:cNvPr id="69" name="Text 52"/>
          <p:cNvSpPr/>
          <p:nvPr/>
        </p:nvSpPr>
        <p:spPr>
          <a:xfrm>
            <a:off x="4752975" y="3206948"/>
            <a:ext cx="3924300" cy="224879"/>
          </a:xfrm>
          <a:prstGeom prst="roundRect">
            <a:avLst>
              <a:gd name="adj" fmla="val 25414"/>
            </a:avLst>
          </a:prstGeom>
          <a:solidFill>
            <a:srgbClr val="1FB8C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53"/>
          <p:cNvSpPr/>
          <p:nvPr/>
        </p:nvSpPr>
        <p:spPr>
          <a:xfrm>
            <a:off x="4752975" y="3206948"/>
            <a:ext cx="19050" cy="224879"/>
          </a:xfrm>
          <a:custGeom>
            <a:avLst/>
            <a:gdLst/>
            <a:ahLst/>
            <a:cxnLst/>
            <a:rect l="l" t="t" r="r" b="b"/>
            <a:pathLst>
              <a:path w="19050" h="224879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10326"/>
                </a:lnTo>
                <a:lnTo>
                  <a:pt x="16669" y="208070"/>
                </a:lnTo>
                <a:lnTo>
                  <a:pt x="14288" y="205530"/>
                </a:lnTo>
                <a:lnTo>
                  <a:pt x="11906" y="202645"/>
                </a:lnTo>
                <a:lnTo>
                  <a:pt x="9525" y="199320"/>
                </a:lnTo>
                <a:lnTo>
                  <a:pt x="7144" y="195397"/>
                </a:lnTo>
                <a:lnTo>
                  <a:pt x="4763" y="190569"/>
                </a:lnTo>
                <a:lnTo>
                  <a:pt x="2381" y="184054"/>
                </a:lnTo>
                <a:lnTo>
                  <a:pt x="0" y="167729"/>
                </a:lnTo>
                <a:close/>
              </a:path>
            </a:pathLst>
          </a:custGeom>
          <a:solidFill>
            <a:srgbClr val="1FB8CD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1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816682" y="3237616"/>
            <a:ext cx="132588" cy="132588"/>
          </a:xfrm>
          <a:prstGeom prst="rect">
            <a:avLst/>
          </a:prstGeom>
        </p:spPr>
      </p:pic>
      <p:sp>
        <p:nvSpPr>
          <p:cNvPr id="72" name="Text 54"/>
          <p:cNvSpPr/>
          <p:nvPr/>
        </p:nvSpPr>
        <p:spPr>
          <a:xfrm>
            <a:off x="4993928" y="3256359"/>
            <a:ext cx="3824451" cy="1260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94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launches with validated, user-loved features that reflect current market needs.</a:t>
            </a:r>
            <a:endParaRPr lang="en-US" sz="700" dirty="0"/>
          </a:p>
        </p:txBody>
      </p:sp>
      <p:sp>
        <p:nvSpPr>
          <p:cNvPr id="73" name="Text 55"/>
          <p:cNvSpPr/>
          <p:nvPr/>
        </p:nvSpPr>
        <p:spPr>
          <a:xfrm>
            <a:off x="342900" y="4925467"/>
            <a:ext cx="8458200" cy="218033"/>
          </a:xfrm>
          <a:prstGeom prst="roundRect">
            <a:avLst>
              <a:gd name="adj" fmla="val 26212"/>
            </a:avLst>
          </a:prstGeom>
          <a:gradFill rotWithShape="1">
            <a:gsLst>
              <a:gs pos="0">
                <a:srgbClr val="E05540">
                  <a:alpha val="12000"/>
                </a:srgbClr>
              </a:gs>
              <a:gs pos="30000">
                <a:srgbClr val="162236">
                  <a:alpha val="50000"/>
                </a:srgbClr>
              </a:gs>
              <a:gs pos="70000">
                <a:srgbClr val="162236">
                  <a:alpha val="50000"/>
                </a:srgbClr>
              </a:gs>
              <a:gs pos="100000">
                <a:srgbClr val="1FB8CD">
                  <a:alpha val="12000"/>
                </a:srgbClr>
              </a:gs>
            </a:gsLst>
            <a:lin ang="0" scaled="1"/>
          </a:gradFill>
          <a:ln w="9525">
            <a:solidFill>
              <a:srgbClr val="FFFFFF">
                <a:alpha val="7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4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86007" y="5033908"/>
            <a:ext cx="132588" cy="109592"/>
          </a:xfrm>
          <a:prstGeom prst="rect">
            <a:avLst/>
          </a:prstGeom>
        </p:spPr>
      </p:pic>
      <p:sp>
        <p:nvSpPr>
          <p:cNvPr id="75" name="Text 56"/>
          <p:cNvSpPr/>
          <p:nvPr/>
        </p:nvSpPr>
        <p:spPr>
          <a:xfrm>
            <a:off x="637877" y="5014913"/>
            <a:ext cx="567294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F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RISK:</a:t>
            </a:r>
            <a:endParaRPr lang="en-US" sz="560" dirty="0"/>
          </a:p>
        </p:txBody>
      </p:sp>
      <p:sp>
        <p:nvSpPr>
          <p:cNvPr id="76" name="Text 57"/>
          <p:cNvSpPr/>
          <p:nvPr/>
        </p:nvSpPr>
        <p:spPr>
          <a:xfrm>
            <a:off x="1251198" y="4992142"/>
            <a:ext cx="2364510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delivery → market misalignment → rework cascade → delayed launch</a:t>
            </a:r>
            <a:endParaRPr lang="en-US" sz="680" dirty="0"/>
          </a:p>
        </p:txBody>
      </p:sp>
      <p:sp>
        <p:nvSpPr>
          <p:cNvPr id="77" name="Text 58"/>
          <p:cNvSpPr/>
          <p:nvPr/>
        </p:nvSpPr>
        <p:spPr>
          <a:xfrm>
            <a:off x="3683645" y="5021312"/>
            <a:ext cx="5804" cy="1221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8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772207" y="5055254"/>
            <a:ext cx="132588" cy="88246"/>
          </a:xfrm>
          <a:prstGeom prst="rect">
            <a:avLst/>
          </a:prstGeom>
        </p:spPr>
      </p:pic>
      <p:sp>
        <p:nvSpPr>
          <p:cNvPr id="79" name="Text 59"/>
          <p:cNvSpPr/>
          <p:nvPr/>
        </p:nvSpPr>
        <p:spPr>
          <a:xfrm>
            <a:off x="3916412" y="5062538"/>
            <a:ext cx="143361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i="1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for ChadaTech leadership</a:t>
            </a:r>
            <a:endParaRPr lang="en-US" sz="620" dirty="0"/>
          </a:p>
        </p:txBody>
      </p:sp>
      <p:pic>
        <p:nvPicPr>
          <p:cNvPr id="80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231318" y="5055254"/>
            <a:ext cx="132588" cy="88246"/>
          </a:xfrm>
          <a:prstGeom prst="rect">
            <a:avLst/>
          </a:prstGeom>
        </p:spPr>
      </p:pic>
      <p:sp>
        <p:nvSpPr>
          <p:cNvPr id="81" name="Text 60"/>
          <p:cNvSpPr/>
          <p:nvPr/>
        </p:nvSpPr>
        <p:spPr>
          <a:xfrm>
            <a:off x="5446663" y="5021312"/>
            <a:ext cx="5804" cy="1221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61"/>
          <p:cNvSpPr/>
          <p:nvPr/>
        </p:nvSpPr>
        <p:spPr>
          <a:xfrm>
            <a:off x="5566767" y="5014913"/>
            <a:ext cx="615872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ADVANTAGE:</a:t>
            </a:r>
            <a:endParaRPr lang="en-US" sz="560" dirty="0"/>
          </a:p>
        </p:txBody>
      </p:sp>
      <p:sp>
        <p:nvSpPr>
          <p:cNvPr id="83" name="Text 62"/>
          <p:cNvSpPr/>
          <p:nvPr/>
        </p:nvSpPr>
        <p:spPr>
          <a:xfrm>
            <a:off x="6227713" y="4992142"/>
            <a:ext cx="2323978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sprints → real user validation → rapid adaptation → competitive launch</a:t>
            </a:r>
            <a:endParaRPr lang="en-US" sz="680" dirty="0"/>
          </a:p>
        </p:txBody>
      </p:sp>
      <p:pic>
        <p:nvPicPr>
          <p:cNvPr id="84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525405" y="5033908"/>
            <a:ext cx="132588" cy="109592"/>
          </a:xfrm>
          <a:prstGeom prst="rect">
            <a:avLst/>
          </a:prstGeom>
        </p:spPr>
      </p:pic>
      <p:sp>
        <p:nvSpPr>
          <p:cNvPr id="85" name="Text 63"/>
          <p:cNvSpPr/>
          <p:nvPr/>
        </p:nvSpPr>
        <p:spPr>
          <a:xfrm>
            <a:off x="7500640" y="4939159"/>
            <a:ext cx="136764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30" kern="0" dirty="0">
                <a:solidFill>
                  <a:srgbClr val="1FB8CD">
                    <a:alpha val="5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ChadaTech</a:t>
            </a:r>
            <a:pPr algn="l" indent="0" marL="0">
              <a:lnSpc>
                <a:spcPts val="930"/>
              </a:lnSpc>
              <a:buNone/>
            </a:pPr>
            <a:r>
              <a:rPr lang="en-US" sz="620" spc="30" kern="0" dirty="0">
                <a:solidFill>
                  <a:srgbClr val="7DA3C8">
                    <a:alpha val="5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Technology Division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1FB8CD"/>
              </a:gs>
              <a:gs pos="50000">
                <a:srgbClr val="0D9AAD"/>
              </a:gs>
              <a:gs pos="100000">
                <a:srgbClr val="0D1B2A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60" y="0"/>
            <a:ext cx="9100840" cy="71497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6060" y="144214"/>
            <a:ext cx="900409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3"/>
              </a:lnSpc>
              <a:buNone/>
            </a:pPr>
            <a:r>
              <a:rPr lang="en-US" sz="1690" spc="34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Choosing </a:t>
            </a:r>
            <a:pPr algn="l" indent="0" marL="0">
              <a:lnSpc>
                <a:spcPts val="1943"/>
              </a:lnSpc>
              <a:buNone/>
            </a:pPr>
            <a:r>
              <a:rPr lang="en-US" sz="1690" b="1" spc="34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Agile</a:t>
            </a:r>
            <a:pPr algn="l" indent="0" marL="0">
              <a:lnSpc>
                <a:spcPts val="1943"/>
              </a:lnSpc>
              <a:buNone/>
            </a:pPr>
            <a:r>
              <a:rPr lang="en-US" sz="1690" spc="34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vs. </a:t>
            </a:r>
            <a:pPr algn="l" indent="0" marL="0">
              <a:lnSpc>
                <a:spcPts val="1943"/>
              </a:lnSpc>
              <a:buNone/>
            </a:pPr>
            <a:r>
              <a:rPr lang="en-US" sz="1690" b="1" spc="34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Waterfall</a:t>
            </a:r>
            <a:pPr algn="l" indent="0" marL="0">
              <a:lnSpc>
                <a:spcPts val="1943"/>
              </a:lnSpc>
              <a:buNone/>
            </a:pPr>
            <a:r>
              <a:rPr lang="en-US" sz="1690" spc="34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 A Decision Framework</a:t>
            </a:r>
            <a:endParaRPr lang="en-US" sz="1690" dirty="0"/>
          </a:p>
        </p:txBody>
      </p:sp>
      <p:sp>
        <p:nvSpPr>
          <p:cNvPr id="5" name="Text 3"/>
          <p:cNvSpPr/>
          <p:nvPr/>
        </p:nvSpPr>
        <p:spPr>
          <a:xfrm>
            <a:off x="386060" y="420142"/>
            <a:ext cx="925654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spc="8" kern="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factors to select the right approach for each ChadaTech project.</a:t>
            </a:r>
            <a:endParaRPr lang="en-US" sz="790" dirty="0"/>
          </a:p>
        </p:txBody>
      </p:sp>
      <p:sp>
        <p:nvSpPr>
          <p:cNvPr id="6" name="Text 4"/>
          <p:cNvSpPr/>
          <p:nvPr/>
        </p:nvSpPr>
        <p:spPr>
          <a:xfrm>
            <a:off x="8081070" y="214610"/>
            <a:ext cx="8548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54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CHADATECH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8910" y="843111"/>
            <a:ext cx="2776240" cy="1899940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1120" dist="13970" dir="5400000">
              <a:srgbClr val="0d1b2a">
                <a:alpha val="9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8910" y="843111"/>
            <a:ext cx="2776240" cy="19050"/>
          </a:xfrm>
          <a:custGeom>
            <a:avLst/>
            <a:gdLst/>
            <a:ahLst/>
            <a:cxnLst/>
            <a:rect l="l" t="t" r="r" b="b"/>
            <a:pathLst>
              <a:path w="277624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753563" y="19050"/>
                </a:lnTo>
                <a:lnTo>
                  <a:pt x="2750870" y="16669"/>
                </a:lnTo>
                <a:lnTo>
                  <a:pt x="2747876" y="14288"/>
                </a:lnTo>
                <a:lnTo>
                  <a:pt x="2744513" y="11906"/>
                </a:lnTo>
                <a:lnTo>
                  <a:pt x="2740674" y="9525"/>
                </a:lnTo>
                <a:lnTo>
                  <a:pt x="2736186" y="7144"/>
                </a:lnTo>
                <a:lnTo>
                  <a:pt x="2730708" y="4763"/>
                </a:lnTo>
                <a:lnTo>
                  <a:pt x="2723369" y="2381"/>
                </a:lnTo>
                <a:lnTo>
                  <a:pt x="2705120" y="0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3210" y="962471"/>
            <a:ext cx="257770" cy="257770"/>
          </a:xfrm>
          <a:prstGeom prst="roundRect">
            <a:avLst>
              <a:gd name="adj" fmla="val 22171"/>
            </a:avLst>
          </a:prstGeom>
          <a:gradFill rotWithShape="1">
            <a:gsLst>
              <a:gs pos="0">
                <a:srgbClr val="1FB8CD">
                  <a:alpha val="8000"/>
                </a:srgbClr>
              </a:gs>
              <a:gs pos="100000">
                <a:srgbClr val="1FB8CD">
                  <a:alpha val="19000"/>
                </a:srgbClr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5727" y="1024988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1971" y="1027361"/>
            <a:ext cx="120262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8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Clarity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443210" y="1284982"/>
            <a:ext cx="2547640" cy="303907"/>
          </a:xfrm>
          <a:prstGeom prst="roundRect">
            <a:avLst>
              <a:gd name="adj" fmla="val 14208"/>
            </a:avLst>
          </a:prstGeom>
          <a:gradFill rotWithShape="1">
            <a:gsLst>
              <a:gs pos="0">
                <a:srgbClr val="1FB8CD">
                  <a:alpha val="10000"/>
                </a:srgbClr>
              </a:gs>
              <a:gs pos="100000">
                <a:srgbClr val="1FB8CD">
                  <a:alpha val="4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43210" y="1284982"/>
            <a:ext cx="9525" cy="303907"/>
          </a:xfrm>
          <a:custGeom>
            <a:avLst/>
            <a:gdLst/>
            <a:ahLst/>
            <a:cxnLst/>
            <a:rect l="l" t="t" r="r" b="b"/>
            <a:pathLst>
              <a:path w="9525" h="303907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87780"/>
                </a:lnTo>
                <a:lnTo>
                  <a:pt x="8334" y="286228"/>
                </a:lnTo>
                <a:lnTo>
                  <a:pt x="7144" y="284516"/>
                </a:lnTo>
                <a:lnTo>
                  <a:pt x="5953" y="282606"/>
                </a:lnTo>
                <a:lnTo>
                  <a:pt x="4763" y="280440"/>
                </a:lnTo>
                <a:lnTo>
                  <a:pt x="3572" y="277923"/>
                </a:lnTo>
                <a:lnTo>
                  <a:pt x="2381" y="274868"/>
                </a:lnTo>
                <a:lnTo>
                  <a:pt x="1191" y="270797"/>
                </a:lnTo>
                <a:lnTo>
                  <a:pt x="0" y="260727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9885" y="1320403"/>
            <a:ext cx="409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560" dirty="0"/>
          </a:p>
        </p:txBody>
      </p:sp>
      <p:sp>
        <p:nvSpPr>
          <p:cNvPr id="15" name="Text 12"/>
          <p:cNvSpPr/>
          <p:nvPr/>
        </p:nvSpPr>
        <p:spPr>
          <a:xfrm>
            <a:off x="931366" y="1320403"/>
            <a:ext cx="204238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2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or unclear requirements that emerge over time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443210" y="1624310"/>
            <a:ext cx="2547640" cy="187375"/>
          </a:xfrm>
          <a:prstGeom prst="roundRect">
            <a:avLst>
              <a:gd name="adj" fmla="val 23045"/>
            </a:avLst>
          </a:prstGeom>
          <a:gradFill rotWithShape="1">
            <a:gsLst>
              <a:gs pos="0">
                <a:srgbClr val="0D1B2A">
                  <a:alpha val="6000"/>
                </a:srgbClr>
              </a:gs>
              <a:gs pos="100000">
                <a:srgbClr val="0D1B2A">
                  <a:alpha val="2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43210" y="1624310"/>
            <a:ext cx="9525" cy="187375"/>
          </a:xfrm>
          <a:custGeom>
            <a:avLst/>
            <a:gdLst/>
            <a:ahLst/>
            <a:cxnLst/>
            <a:rect l="l" t="t" r="r" b="b"/>
            <a:pathLst>
              <a:path w="9525" h="187375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171247"/>
                </a:lnTo>
                <a:lnTo>
                  <a:pt x="8334" y="169696"/>
                </a:lnTo>
                <a:lnTo>
                  <a:pt x="7144" y="167983"/>
                </a:lnTo>
                <a:lnTo>
                  <a:pt x="5953" y="166073"/>
                </a:lnTo>
                <a:lnTo>
                  <a:pt x="4763" y="163908"/>
                </a:lnTo>
                <a:lnTo>
                  <a:pt x="3572" y="161391"/>
                </a:lnTo>
                <a:lnTo>
                  <a:pt x="2381" y="158336"/>
                </a:lnTo>
                <a:lnTo>
                  <a:pt x="1191" y="154265"/>
                </a:lnTo>
                <a:lnTo>
                  <a:pt x="0" y="144195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09885" y="1659731"/>
            <a:ext cx="409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560" dirty="0"/>
          </a:p>
        </p:txBody>
      </p:sp>
      <p:sp>
        <p:nvSpPr>
          <p:cNvPr id="19" name="Text 16"/>
          <p:cNvSpPr/>
          <p:nvPr/>
        </p:nvSpPr>
        <p:spPr>
          <a:xfrm>
            <a:off x="931366" y="1659731"/>
            <a:ext cx="1796891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2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fixed, and fully documented upfront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3205460" y="843111"/>
            <a:ext cx="2776240" cy="1899940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1120" dist="13970" dir="5400000">
              <a:srgbClr val="0d1b2a">
                <a:alpha val="9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205460" y="843111"/>
            <a:ext cx="2776240" cy="19050"/>
          </a:xfrm>
          <a:custGeom>
            <a:avLst/>
            <a:gdLst/>
            <a:ahLst/>
            <a:cxnLst/>
            <a:rect l="l" t="t" r="r" b="b"/>
            <a:pathLst>
              <a:path w="277624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753563" y="19050"/>
                </a:lnTo>
                <a:lnTo>
                  <a:pt x="2750870" y="16669"/>
                </a:lnTo>
                <a:lnTo>
                  <a:pt x="2747876" y="14288"/>
                </a:lnTo>
                <a:lnTo>
                  <a:pt x="2744513" y="11906"/>
                </a:lnTo>
                <a:lnTo>
                  <a:pt x="2740674" y="9525"/>
                </a:lnTo>
                <a:lnTo>
                  <a:pt x="2736186" y="7144"/>
                </a:lnTo>
                <a:lnTo>
                  <a:pt x="2730708" y="4763"/>
                </a:lnTo>
                <a:lnTo>
                  <a:pt x="2723369" y="2381"/>
                </a:lnTo>
                <a:lnTo>
                  <a:pt x="2705120" y="0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319760" y="962471"/>
            <a:ext cx="257770" cy="257770"/>
          </a:xfrm>
          <a:prstGeom prst="roundRect">
            <a:avLst>
              <a:gd name="adj" fmla="val 22171"/>
            </a:avLst>
          </a:prstGeom>
          <a:gradFill rotWithShape="1">
            <a:gsLst>
              <a:gs pos="0">
                <a:srgbClr val="1FB8CD">
                  <a:alpha val="8000"/>
                </a:srgbClr>
              </a:gs>
              <a:gs pos="100000">
                <a:srgbClr val="1FB8CD">
                  <a:alpha val="19000"/>
                </a:srgbClr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2277" y="1024988"/>
            <a:ext cx="132588" cy="1325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48521" y="1027361"/>
            <a:ext cx="98210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8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</a:t>
            </a:r>
            <a:endParaRPr lang="en-US" sz="840" dirty="0"/>
          </a:p>
        </p:txBody>
      </p:sp>
      <p:sp>
        <p:nvSpPr>
          <p:cNvPr id="25" name="Text 21"/>
          <p:cNvSpPr/>
          <p:nvPr/>
        </p:nvSpPr>
        <p:spPr>
          <a:xfrm>
            <a:off x="3319760" y="1284982"/>
            <a:ext cx="2547640" cy="303907"/>
          </a:xfrm>
          <a:prstGeom prst="roundRect">
            <a:avLst>
              <a:gd name="adj" fmla="val 14208"/>
            </a:avLst>
          </a:prstGeom>
          <a:gradFill rotWithShape="1">
            <a:gsLst>
              <a:gs pos="0">
                <a:srgbClr val="1FB8CD">
                  <a:alpha val="10000"/>
                </a:srgbClr>
              </a:gs>
              <a:gs pos="100000">
                <a:srgbClr val="1FB8CD">
                  <a:alpha val="4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319760" y="1284982"/>
            <a:ext cx="9525" cy="303907"/>
          </a:xfrm>
          <a:custGeom>
            <a:avLst/>
            <a:gdLst/>
            <a:ahLst/>
            <a:cxnLst/>
            <a:rect l="l" t="t" r="r" b="b"/>
            <a:pathLst>
              <a:path w="9525" h="303907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87780"/>
                </a:lnTo>
                <a:lnTo>
                  <a:pt x="8334" y="286228"/>
                </a:lnTo>
                <a:lnTo>
                  <a:pt x="7144" y="284516"/>
                </a:lnTo>
                <a:lnTo>
                  <a:pt x="5953" y="282606"/>
                </a:lnTo>
                <a:lnTo>
                  <a:pt x="4763" y="280440"/>
                </a:lnTo>
                <a:lnTo>
                  <a:pt x="3572" y="277923"/>
                </a:lnTo>
                <a:lnTo>
                  <a:pt x="2381" y="274868"/>
                </a:lnTo>
                <a:lnTo>
                  <a:pt x="1191" y="270797"/>
                </a:lnTo>
                <a:lnTo>
                  <a:pt x="0" y="260727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386435" y="1320403"/>
            <a:ext cx="409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560" dirty="0"/>
          </a:p>
        </p:txBody>
      </p:sp>
      <p:sp>
        <p:nvSpPr>
          <p:cNvPr id="28" name="Text 24"/>
          <p:cNvSpPr/>
          <p:nvPr/>
        </p:nvSpPr>
        <p:spPr>
          <a:xfrm>
            <a:off x="3807916" y="1320403"/>
            <a:ext cx="204238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2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early, incremental value delivery each Sprint</a:t>
            </a:r>
            <a:endParaRPr lang="en-US" sz="680" dirty="0"/>
          </a:p>
        </p:txBody>
      </p:sp>
      <p:sp>
        <p:nvSpPr>
          <p:cNvPr id="29" name="Text 25"/>
          <p:cNvSpPr/>
          <p:nvPr/>
        </p:nvSpPr>
        <p:spPr>
          <a:xfrm>
            <a:off x="3319760" y="1624310"/>
            <a:ext cx="2547640" cy="303907"/>
          </a:xfrm>
          <a:prstGeom prst="roundRect">
            <a:avLst>
              <a:gd name="adj" fmla="val 14208"/>
            </a:avLst>
          </a:prstGeom>
          <a:gradFill rotWithShape="1">
            <a:gsLst>
              <a:gs pos="0">
                <a:srgbClr val="0D1B2A">
                  <a:alpha val="6000"/>
                </a:srgbClr>
              </a:gs>
              <a:gs pos="100000">
                <a:srgbClr val="0D1B2A">
                  <a:alpha val="2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3319760" y="1624310"/>
            <a:ext cx="9525" cy="303907"/>
          </a:xfrm>
          <a:custGeom>
            <a:avLst/>
            <a:gdLst/>
            <a:ahLst/>
            <a:cxnLst/>
            <a:rect l="l" t="t" r="r" b="b"/>
            <a:pathLst>
              <a:path w="9525" h="303907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87780"/>
                </a:lnTo>
                <a:lnTo>
                  <a:pt x="8334" y="286228"/>
                </a:lnTo>
                <a:lnTo>
                  <a:pt x="7144" y="284516"/>
                </a:lnTo>
                <a:lnTo>
                  <a:pt x="5953" y="282606"/>
                </a:lnTo>
                <a:lnTo>
                  <a:pt x="4763" y="280440"/>
                </a:lnTo>
                <a:lnTo>
                  <a:pt x="3572" y="277923"/>
                </a:lnTo>
                <a:lnTo>
                  <a:pt x="2381" y="274868"/>
                </a:lnTo>
                <a:lnTo>
                  <a:pt x="1191" y="270797"/>
                </a:lnTo>
                <a:lnTo>
                  <a:pt x="0" y="260727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3386435" y="1659731"/>
            <a:ext cx="409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560" dirty="0"/>
          </a:p>
        </p:txBody>
      </p:sp>
      <p:sp>
        <p:nvSpPr>
          <p:cNvPr id="32" name="Text 28"/>
          <p:cNvSpPr/>
          <p:nvPr/>
        </p:nvSpPr>
        <p:spPr>
          <a:xfrm>
            <a:off x="3807916" y="1659731"/>
            <a:ext cx="204238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2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milestones with a well-defined project end-date</a:t>
            </a:r>
            <a:endParaRPr lang="en-US" sz="680" dirty="0"/>
          </a:p>
        </p:txBody>
      </p:sp>
      <p:sp>
        <p:nvSpPr>
          <p:cNvPr id="33" name="Text 29"/>
          <p:cNvSpPr/>
          <p:nvPr/>
        </p:nvSpPr>
        <p:spPr>
          <a:xfrm>
            <a:off x="6082010" y="843111"/>
            <a:ext cx="2776240" cy="1899940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1120" dist="13970" dir="5400000">
              <a:srgbClr val="0d1b2a">
                <a:alpha val="9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6082010" y="843111"/>
            <a:ext cx="2776240" cy="19050"/>
          </a:xfrm>
          <a:custGeom>
            <a:avLst/>
            <a:gdLst/>
            <a:ahLst/>
            <a:cxnLst/>
            <a:rect l="l" t="t" r="r" b="b"/>
            <a:pathLst>
              <a:path w="277624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753563" y="19050"/>
                </a:lnTo>
                <a:lnTo>
                  <a:pt x="2750870" y="16669"/>
                </a:lnTo>
                <a:lnTo>
                  <a:pt x="2747876" y="14288"/>
                </a:lnTo>
                <a:lnTo>
                  <a:pt x="2744513" y="11906"/>
                </a:lnTo>
                <a:lnTo>
                  <a:pt x="2740674" y="9525"/>
                </a:lnTo>
                <a:lnTo>
                  <a:pt x="2736186" y="7144"/>
                </a:lnTo>
                <a:lnTo>
                  <a:pt x="2730708" y="4763"/>
                </a:lnTo>
                <a:lnTo>
                  <a:pt x="2723369" y="2381"/>
                </a:lnTo>
                <a:lnTo>
                  <a:pt x="2705120" y="0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196310" y="962471"/>
            <a:ext cx="257770" cy="257770"/>
          </a:xfrm>
          <a:prstGeom prst="roundRect">
            <a:avLst>
              <a:gd name="adj" fmla="val 22171"/>
            </a:avLst>
          </a:prstGeom>
          <a:gradFill rotWithShape="1">
            <a:gsLst>
              <a:gs pos="0">
                <a:srgbClr val="1FB8CD">
                  <a:alpha val="8000"/>
                </a:srgbClr>
              </a:gs>
              <a:gs pos="100000">
                <a:srgbClr val="1FB8CD">
                  <a:alpha val="19000"/>
                </a:srgbClr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8827" y="1024988"/>
            <a:ext cx="132588" cy="13258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525071" y="1027361"/>
            <a:ext cx="134193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8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Availability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6196310" y="1284982"/>
            <a:ext cx="2547640" cy="303907"/>
          </a:xfrm>
          <a:prstGeom prst="roundRect">
            <a:avLst>
              <a:gd name="adj" fmla="val 14208"/>
            </a:avLst>
          </a:prstGeom>
          <a:gradFill rotWithShape="1">
            <a:gsLst>
              <a:gs pos="0">
                <a:srgbClr val="1FB8CD">
                  <a:alpha val="10000"/>
                </a:srgbClr>
              </a:gs>
              <a:gs pos="100000">
                <a:srgbClr val="1FB8CD">
                  <a:alpha val="4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6196310" y="1284982"/>
            <a:ext cx="9525" cy="303907"/>
          </a:xfrm>
          <a:custGeom>
            <a:avLst/>
            <a:gdLst/>
            <a:ahLst/>
            <a:cxnLst/>
            <a:rect l="l" t="t" r="r" b="b"/>
            <a:pathLst>
              <a:path w="9525" h="303907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87780"/>
                </a:lnTo>
                <a:lnTo>
                  <a:pt x="8334" y="286228"/>
                </a:lnTo>
                <a:lnTo>
                  <a:pt x="7144" y="284516"/>
                </a:lnTo>
                <a:lnTo>
                  <a:pt x="5953" y="282606"/>
                </a:lnTo>
                <a:lnTo>
                  <a:pt x="4763" y="280440"/>
                </a:lnTo>
                <a:lnTo>
                  <a:pt x="3572" y="277923"/>
                </a:lnTo>
                <a:lnTo>
                  <a:pt x="2381" y="274868"/>
                </a:lnTo>
                <a:lnTo>
                  <a:pt x="1191" y="270797"/>
                </a:lnTo>
                <a:lnTo>
                  <a:pt x="0" y="260727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6262985" y="1320403"/>
            <a:ext cx="409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560" dirty="0"/>
          </a:p>
        </p:txBody>
      </p:sp>
      <p:sp>
        <p:nvSpPr>
          <p:cNvPr id="41" name="Text 36"/>
          <p:cNvSpPr/>
          <p:nvPr/>
        </p:nvSpPr>
        <p:spPr>
          <a:xfrm>
            <a:off x="6684466" y="1320403"/>
            <a:ext cx="204238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2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available for continuous Sprint collaboration</a:t>
            </a:r>
            <a:endParaRPr lang="en-US" sz="680" dirty="0"/>
          </a:p>
        </p:txBody>
      </p:sp>
      <p:sp>
        <p:nvSpPr>
          <p:cNvPr id="42" name="Text 37"/>
          <p:cNvSpPr/>
          <p:nvPr/>
        </p:nvSpPr>
        <p:spPr>
          <a:xfrm>
            <a:off x="6196310" y="1624310"/>
            <a:ext cx="2547640" cy="303907"/>
          </a:xfrm>
          <a:prstGeom prst="roundRect">
            <a:avLst>
              <a:gd name="adj" fmla="val 14208"/>
            </a:avLst>
          </a:prstGeom>
          <a:gradFill rotWithShape="1">
            <a:gsLst>
              <a:gs pos="0">
                <a:srgbClr val="0D1B2A">
                  <a:alpha val="6000"/>
                </a:srgbClr>
              </a:gs>
              <a:gs pos="100000">
                <a:srgbClr val="0D1B2A">
                  <a:alpha val="2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6196310" y="1624310"/>
            <a:ext cx="9525" cy="303907"/>
          </a:xfrm>
          <a:custGeom>
            <a:avLst/>
            <a:gdLst/>
            <a:ahLst/>
            <a:cxnLst/>
            <a:rect l="l" t="t" r="r" b="b"/>
            <a:pathLst>
              <a:path w="9525" h="303907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87780"/>
                </a:lnTo>
                <a:lnTo>
                  <a:pt x="8334" y="286228"/>
                </a:lnTo>
                <a:lnTo>
                  <a:pt x="7144" y="284516"/>
                </a:lnTo>
                <a:lnTo>
                  <a:pt x="5953" y="282606"/>
                </a:lnTo>
                <a:lnTo>
                  <a:pt x="4763" y="280440"/>
                </a:lnTo>
                <a:lnTo>
                  <a:pt x="3572" y="277923"/>
                </a:lnTo>
                <a:lnTo>
                  <a:pt x="2381" y="274868"/>
                </a:lnTo>
                <a:lnTo>
                  <a:pt x="1191" y="270797"/>
                </a:lnTo>
                <a:lnTo>
                  <a:pt x="0" y="260727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6262985" y="1659731"/>
            <a:ext cx="409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560" dirty="0"/>
          </a:p>
        </p:txBody>
      </p:sp>
      <p:sp>
        <p:nvSpPr>
          <p:cNvPr id="45" name="Text 40"/>
          <p:cNvSpPr/>
          <p:nvPr/>
        </p:nvSpPr>
        <p:spPr>
          <a:xfrm>
            <a:off x="6684466" y="1659731"/>
            <a:ext cx="204238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2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access; prefer concentrated front-loaded input</a:t>
            </a:r>
            <a:endParaRPr lang="en-US" sz="680" dirty="0"/>
          </a:p>
        </p:txBody>
      </p:sp>
      <p:sp>
        <p:nvSpPr>
          <p:cNvPr id="46" name="Text 41"/>
          <p:cNvSpPr/>
          <p:nvPr/>
        </p:nvSpPr>
        <p:spPr>
          <a:xfrm>
            <a:off x="328910" y="2843361"/>
            <a:ext cx="2776240" cy="1900089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1120" dist="13970" dir="5400000">
              <a:srgbClr val="0d1b2a">
                <a:alpha val="9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328910" y="2843361"/>
            <a:ext cx="2776240" cy="19050"/>
          </a:xfrm>
          <a:custGeom>
            <a:avLst/>
            <a:gdLst/>
            <a:ahLst/>
            <a:cxnLst/>
            <a:rect l="l" t="t" r="r" b="b"/>
            <a:pathLst>
              <a:path w="277624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753563" y="19050"/>
                </a:lnTo>
                <a:lnTo>
                  <a:pt x="2750870" y="16669"/>
                </a:lnTo>
                <a:lnTo>
                  <a:pt x="2747876" y="14288"/>
                </a:lnTo>
                <a:lnTo>
                  <a:pt x="2744513" y="11906"/>
                </a:lnTo>
                <a:lnTo>
                  <a:pt x="2740674" y="9525"/>
                </a:lnTo>
                <a:lnTo>
                  <a:pt x="2736186" y="7144"/>
                </a:lnTo>
                <a:lnTo>
                  <a:pt x="2730708" y="4763"/>
                </a:lnTo>
                <a:lnTo>
                  <a:pt x="2723369" y="2381"/>
                </a:lnTo>
                <a:lnTo>
                  <a:pt x="2705120" y="0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443210" y="2962721"/>
            <a:ext cx="257770" cy="257770"/>
          </a:xfrm>
          <a:prstGeom prst="roundRect">
            <a:avLst>
              <a:gd name="adj" fmla="val 22171"/>
            </a:avLst>
          </a:prstGeom>
          <a:gradFill rotWithShape="1">
            <a:gsLst>
              <a:gs pos="0">
                <a:srgbClr val="1FB8CD">
                  <a:alpha val="8000"/>
                </a:srgbClr>
              </a:gs>
              <a:gs pos="100000">
                <a:srgbClr val="1FB8CD">
                  <a:alpha val="19000"/>
                </a:srgbClr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5727" y="3025238"/>
            <a:ext cx="132588" cy="132588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771971" y="3027611"/>
            <a:ext cx="145358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8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Requirements</a:t>
            </a:r>
            <a:endParaRPr lang="en-US" sz="840" dirty="0"/>
          </a:p>
        </p:txBody>
      </p:sp>
      <p:sp>
        <p:nvSpPr>
          <p:cNvPr id="51" name="Text 45"/>
          <p:cNvSpPr/>
          <p:nvPr/>
        </p:nvSpPr>
        <p:spPr>
          <a:xfrm>
            <a:off x="443210" y="3285232"/>
            <a:ext cx="2547640" cy="303907"/>
          </a:xfrm>
          <a:prstGeom prst="roundRect">
            <a:avLst>
              <a:gd name="adj" fmla="val 14208"/>
            </a:avLst>
          </a:prstGeom>
          <a:gradFill rotWithShape="1">
            <a:gsLst>
              <a:gs pos="0">
                <a:srgbClr val="1FB8CD">
                  <a:alpha val="10000"/>
                </a:srgbClr>
              </a:gs>
              <a:gs pos="100000">
                <a:srgbClr val="1FB8CD">
                  <a:alpha val="4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443210" y="3285232"/>
            <a:ext cx="9525" cy="303907"/>
          </a:xfrm>
          <a:custGeom>
            <a:avLst/>
            <a:gdLst/>
            <a:ahLst/>
            <a:cxnLst/>
            <a:rect l="l" t="t" r="r" b="b"/>
            <a:pathLst>
              <a:path w="9525" h="303907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87780"/>
                </a:lnTo>
                <a:lnTo>
                  <a:pt x="8334" y="286228"/>
                </a:lnTo>
                <a:lnTo>
                  <a:pt x="7144" y="284516"/>
                </a:lnTo>
                <a:lnTo>
                  <a:pt x="5953" y="282606"/>
                </a:lnTo>
                <a:lnTo>
                  <a:pt x="4763" y="280440"/>
                </a:lnTo>
                <a:lnTo>
                  <a:pt x="3572" y="277923"/>
                </a:lnTo>
                <a:lnTo>
                  <a:pt x="2381" y="274868"/>
                </a:lnTo>
                <a:lnTo>
                  <a:pt x="1191" y="270797"/>
                </a:lnTo>
                <a:lnTo>
                  <a:pt x="0" y="260727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509885" y="3320653"/>
            <a:ext cx="409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560" dirty="0"/>
          </a:p>
        </p:txBody>
      </p:sp>
      <p:sp>
        <p:nvSpPr>
          <p:cNvPr id="54" name="Text 48"/>
          <p:cNvSpPr/>
          <p:nvPr/>
        </p:nvSpPr>
        <p:spPr>
          <a:xfrm>
            <a:off x="931366" y="3320653"/>
            <a:ext cx="204238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2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to moderate compliance needs with built-in flexibility</a:t>
            </a:r>
            <a:endParaRPr lang="en-US" sz="680" dirty="0"/>
          </a:p>
        </p:txBody>
      </p:sp>
      <p:sp>
        <p:nvSpPr>
          <p:cNvPr id="55" name="Text 49"/>
          <p:cNvSpPr/>
          <p:nvPr/>
        </p:nvSpPr>
        <p:spPr>
          <a:xfrm>
            <a:off x="443210" y="3624560"/>
            <a:ext cx="2547640" cy="303907"/>
          </a:xfrm>
          <a:prstGeom prst="roundRect">
            <a:avLst>
              <a:gd name="adj" fmla="val 14208"/>
            </a:avLst>
          </a:prstGeom>
          <a:gradFill rotWithShape="1">
            <a:gsLst>
              <a:gs pos="0">
                <a:srgbClr val="0D1B2A">
                  <a:alpha val="6000"/>
                </a:srgbClr>
              </a:gs>
              <a:gs pos="100000">
                <a:srgbClr val="0D1B2A">
                  <a:alpha val="2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443210" y="3624560"/>
            <a:ext cx="9525" cy="303907"/>
          </a:xfrm>
          <a:custGeom>
            <a:avLst/>
            <a:gdLst/>
            <a:ahLst/>
            <a:cxnLst/>
            <a:rect l="l" t="t" r="r" b="b"/>
            <a:pathLst>
              <a:path w="9525" h="303907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87780"/>
                </a:lnTo>
                <a:lnTo>
                  <a:pt x="8334" y="286228"/>
                </a:lnTo>
                <a:lnTo>
                  <a:pt x="7144" y="284516"/>
                </a:lnTo>
                <a:lnTo>
                  <a:pt x="5953" y="282606"/>
                </a:lnTo>
                <a:lnTo>
                  <a:pt x="4763" y="280440"/>
                </a:lnTo>
                <a:lnTo>
                  <a:pt x="3572" y="277923"/>
                </a:lnTo>
                <a:lnTo>
                  <a:pt x="2381" y="274868"/>
                </a:lnTo>
                <a:lnTo>
                  <a:pt x="1191" y="270797"/>
                </a:lnTo>
                <a:lnTo>
                  <a:pt x="0" y="260727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1"/>
          <p:cNvSpPr/>
          <p:nvPr/>
        </p:nvSpPr>
        <p:spPr>
          <a:xfrm>
            <a:off x="509885" y="3659981"/>
            <a:ext cx="409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560" dirty="0"/>
          </a:p>
        </p:txBody>
      </p:sp>
      <p:sp>
        <p:nvSpPr>
          <p:cNvPr id="58" name="Text 52"/>
          <p:cNvSpPr/>
          <p:nvPr/>
        </p:nvSpPr>
        <p:spPr>
          <a:xfrm>
            <a:off x="931366" y="3659981"/>
            <a:ext cx="204238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2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regulated industries — defense, pharma, finance</a:t>
            </a:r>
            <a:endParaRPr lang="en-US" sz="680" dirty="0"/>
          </a:p>
        </p:txBody>
      </p:sp>
      <p:sp>
        <p:nvSpPr>
          <p:cNvPr id="59" name="Text 53"/>
          <p:cNvSpPr/>
          <p:nvPr/>
        </p:nvSpPr>
        <p:spPr>
          <a:xfrm>
            <a:off x="3205460" y="2843361"/>
            <a:ext cx="2776240" cy="1900089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1120" dist="13970" dir="5400000">
              <a:srgbClr val="0d1b2a">
                <a:alpha val="9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4"/>
          <p:cNvSpPr/>
          <p:nvPr/>
        </p:nvSpPr>
        <p:spPr>
          <a:xfrm>
            <a:off x="3205460" y="2843361"/>
            <a:ext cx="2776240" cy="19050"/>
          </a:xfrm>
          <a:custGeom>
            <a:avLst/>
            <a:gdLst/>
            <a:ahLst/>
            <a:cxnLst/>
            <a:rect l="l" t="t" r="r" b="b"/>
            <a:pathLst>
              <a:path w="277624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753563" y="19050"/>
                </a:lnTo>
                <a:lnTo>
                  <a:pt x="2750870" y="16669"/>
                </a:lnTo>
                <a:lnTo>
                  <a:pt x="2747876" y="14288"/>
                </a:lnTo>
                <a:lnTo>
                  <a:pt x="2744513" y="11906"/>
                </a:lnTo>
                <a:lnTo>
                  <a:pt x="2740674" y="9525"/>
                </a:lnTo>
                <a:lnTo>
                  <a:pt x="2736186" y="7144"/>
                </a:lnTo>
                <a:lnTo>
                  <a:pt x="2730708" y="4763"/>
                </a:lnTo>
                <a:lnTo>
                  <a:pt x="2723369" y="2381"/>
                </a:lnTo>
                <a:lnTo>
                  <a:pt x="2705120" y="0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5"/>
          <p:cNvSpPr/>
          <p:nvPr/>
        </p:nvSpPr>
        <p:spPr>
          <a:xfrm>
            <a:off x="3319760" y="2962721"/>
            <a:ext cx="257770" cy="257770"/>
          </a:xfrm>
          <a:prstGeom prst="roundRect">
            <a:avLst>
              <a:gd name="adj" fmla="val 22171"/>
            </a:avLst>
          </a:prstGeom>
          <a:gradFill rotWithShape="1">
            <a:gsLst>
              <a:gs pos="0">
                <a:srgbClr val="1FB8CD">
                  <a:alpha val="8000"/>
                </a:srgbClr>
              </a:gs>
              <a:gs pos="100000">
                <a:srgbClr val="1FB8CD">
                  <a:alpha val="19000"/>
                </a:srgbClr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82277" y="3025238"/>
            <a:ext cx="132588" cy="132588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3648521" y="3027611"/>
            <a:ext cx="84163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8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Tolerance</a:t>
            </a:r>
            <a:endParaRPr lang="en-US" sz="840" dirty="0"/>
          </a:p>
        </p:txBody>
      </p:sp>
      <p:sp>
        <p:nvSpPr>
          <p:cNvPr id="64" name="Text 57"/>
          <p:cNvSpPr/>
          <p:nvPr/>
        </p:nvSpPr>
        <p:spPr>
          <a:xfrm>
            <a:off x="3319760" y="3285232"/>
            <a:ext cx="2547640" cy="303907"/>
          </a:xfrm>
          <a:prstGeom prst="roundRect">
            <a:avLst>
              <a:gd name="adj" fmla="val 14208"/>
            </a:avLst>
          </a:prstGeom>
          <a:gradFill rotWithShape="1">
            <a:gsLst>
              <a:gs pos="0">
                <a:srgbClr val="1FB8CD">
                  <a:alpha val="10000"/>
                </a:srgbClr>
              </a:gs>
              <a:gs pos="100000">
                <a:srgbClr val="1FB8CD">
                  <a:alpha val="4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3319760" y="3285232"/>
            <a:ext cx="9525" cy="303907"/>
          </a:xfrm>
          <a:custGeom>
            <a:avLst/>
            <a:gdLst/>
            <a:ahLst/>
            <a:cxnLst/>
            <a:rect l="l" t="t" r="r" b="b"/>
            <a:pathLst>
              <a:path w="9525" h="303907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87780"/>
                </a:lnTo>
                <a:lnTo>
                  <a:pt x="8334" y="286228"/>
                </a:lnTo>
                <a:lnTo>
                  <a:pt x="7144" y="284516"/>
                </a:lnTo>
                <a:lnTo>
                  <a:pt x="5953" y="282606"/>
                </a:lnTo>
                <a:lnTo>
                  <a:pt x="4763" y="280440"/>
                </a:lnTo>
                <a:lnTo>
                  <a:pt x="3572" y="277923"/>
                </a:lnTo>
                <a:lnTo>
                  <a:pt x="2381" y="274868"/>
                </a:lnTo>
                <a:lnTo>
                  <a:pt x="1191" y="270797"/>
                </a:lnTo>
                <a:lnTo>
                  <a:pt x="0" y="260727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9"/>
          <p:cNvSpPr/>
          <p:nvPr/>
        </p:nvSpPr>
        <p:spPr>
          <a:xfrm>
            <a:off x="3386435" y="3320653"/>
            <a:ext cx="409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560" dirty="0"/>
          </a:p>
        </p:txBody>
      </p:sp>
      <p:sp>
        <p:nvSpPr>
          <p:cNvPr id="67" name="Text 60"/>
          <p:cNvSpPr/>
          <p:nvPr/>
        </p:nvSpPr>
        <p:spPr>
          <a:xfrm>
            <a:off x="3807916" y="3320653"/>
            <a:ext cx="204238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2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discovered risks; addresses them early via iterations</a:t>
            </a:r>
            <a:endParaRPr lang="en-US" sz="680" dirty="0"/>
          </a:p>
        </p:txBody>
      </p:sp>
      <p:sp>
        <p:nvSpPr>
          <p:cNvPr id="68" name="Text 61"/>
          <p:cNvSpPr/>
          <p:nvPr/>
        </p:nvSpPr>
        <p:spPr>
          <a:xfrm>
            <a:off x="3319760" y="3624560"/>
            <a:ext cx="2547640" cy="303907"/>
          </a:xfrm>
          <a:prstGeom prst="roundRect">
            <a:avLst>
              <a:gd name="adj" fmla="val 14208"/>
            </a:avLst>
          </a:prstGeom>
          <a:gradFill rotWithShape="1">
            <a:gsLst>
              <a:gs pos="0">
                <a:srgbClr val="0D1B2A">
                  <a:alpha val="6000"/>
                </a:srgbClr>
              </a:gs>
              <a:gs pos="100000">
                <a:srgbClr val="0D1B2A">
                  <a:alpha val="2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2"/>
          <p:cNvSpPr/>
          <p:nvPr/>
        </p:nvSpPr>
        <p:spPr>
          <a:xfrm>
            <a:off x="3319760" y="3624560"/>
            <a:ext cx="9525" cy="303907"/>
          </a:xfrm>
          <a:custGeom>
            <a:avLst/>
            <a:gdLst/>
            <a:ahLst/>
            <a:cxnLst/>
            <a:rect l="l" t="t" r="r" b="b"/>
            <a:pathLst>
              <a:path w="9525" h="303907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87780"/>
                </a:lnTo>
                <a:lnTo>
                  <a:pt x="8334" y="286228"/>
                </a:lnTo>
                <a:lnTo>
                  <a:pt x="7144" y="284516"/>
                </a:lnTo>
                <a:lnTo>
                  <a:pt x="5953" y="282606"/>
                </a:lnTo>
                <a:lnTo>
                  <a:pt x="4763" y="280440"/>
                </a:lnTo>
                <a:lnTo>
                  <a:pt x="3572" y="277923"/>
                </a:lnTo>
                <a:lnTo>
                  <a:pt x="2381" y="274868"/>
                </a:lnTo>
                <a:lnTo>
                  <a:pt x="1191" y="270797"/>
                </a:lnTo>
                <a:lnTo>
                  <a:pt x="0" y="260727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3"/>
          <p:cNvSpPr/>
          <p:nvPr/>
        </p:nvSpPr>
        <p:spPr>
          <a:xfrm>
            <a:off x="3386435" y="3659981"/>
            <a:ext cx="409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560" dirty="0"/>
          </a:p>
        </p:txBody>
      </p:sp>
      <p:sp>
        <p:nvSpPr>
          <p:cNvPr id="71" name="Text 64"/>
          <p:cNvSpPr/>
          <p:nvPr/>
        </p:nvSpPr>
        <p:spPr>
          <a:xfrm>
            <a:off x="3807916" y="3659981"/>
            <a:ext cx="204238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2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tolerance; mitigated through exhaustive upfront planning</a:t>
            </a:r>
            <a:endParaRPr lang="en-US" sz="680" dirty="0"/>
          </a:p>
        </p:txBody>
      </p:sp>
      <p:sp>
        <p:nvSpPr>
          <p:cNvPr id="72" name="Text 65"/>
          <p:cNvSpPr/>
          <p:nvPr/>
        </p:nvSpPr>
        <p:spPr>
          <a:xfrm>
            <a:off x="6082010" y="2843361"/>
            <a:ext cx="2776240" cy="1900089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1120" dist="13970" dir="5400000">
              <a:srgbClr val="0d1b2a">
                <a:alpha val="9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6"/>
          <p:cNvSpPr/>
          <p:nvPr/>
        </p:nvSpPr>
        <p:spPr>
          <a:xfrm>
            <a:off x="6082010" y="2843361"/>
            <a:ext cx="2776240" cy="19050"/>
          </a:xfrm>
          <a:custGeom>
            <a:avLst/>
            <a:gdLst/>
            <a:ahLst/>
            <a:cxnLst/>
            <a:rect l="l" t="t" r="r" b="b"/>
            <a:pathLst>
              <a:path w="277624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753563" y="19050"/>
                </a:lnTo>
                <a:lnTo>
                  <a:pt x="2750870" y="16669"/>
                </a:lnTo>
                <a:lnTo>
                  <a:pt x="2747876" y="14288"/>
                </a:lnTo>
                <a:lnTo>
                  <a:pt x="2744513" y="11906"/>
                </a:lnTo>
                <a:lnTo>
                  <a:pt x="2740674" y="9525"/>
                </a:lnTo>
                <a:lnTo>
                  <a:pt x="2736186" y="7144"/>
                </a:lnTo>
                <a:lnTo>
                  <a:pt x="2730708" y="4763"/>
                </a:lnTo>
                <a:lnTo>
                  <a:pt x="2723369" y="2381"/>
                </a:lnTo>
                <a:lnTo>
                  <a:pt x="2705120" y="0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7"/>
          <p:cNvSpPr/>
          <p:nvPr/>
        </p:nvSpPr>
        <p:spPr>
          <a:xfrm>
            <a:off x="6196310" y="2962721"/>
            <a:ext cx="257770" cy="257770"/>
          </a:xfrm>
          <a:prstGeom prst="roundRect">
            <a:avLst>
              <a:gd name="adj" fmla="val 22171"/>
            </a:avLst>
          </a:prstGeom>
          <a:gradFill rotWithShape="1">
            <a:gsLst>
              <a:gs pos="0">
                <a:srgbClr val="1FB8CD">
                  <a:alpha val="8000"/>
                </a:srgbClr>
              </a:gs>
              <a:gs pos="100000">
                <a:srgbClr val="1FB8CD">
                  <a:alpha val="19000"/>
                </a:srgbClr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58827" y="3025238"/>
            <a:ext cx="132588" cy="132588"/>
          </a:xfrm>
          <a:prstGeom prst="rect">
            <a:avLst/>
          </a:prstGeom>
        </p:spPr>
      </p:pic>
      <p:sp>
        <p:nvSpPr>
          <p:cNvPr id="76" name="Text 68"/>
          <p:cNvSpPr/>
          <p:nvPr/>
        </p:nvSpPr>
        <p:spPr>
          <a:xfrm>
            <a:off x="6525071" y="3027611"/>
            <a:ext cx="153397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8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Market Speed</a:t>
            </a:r>
            <a:endParaRPr lang="en-US" sz="840" dirty="0"/>
          </a:p>
        </p:txBody>
      </p:sp>
      <p:sp>
        <p:nvSpPr>
          <p:cNvPr id="77" name="Text 69"/>
          <p:cNvSpPr/>
          <p:nvPr/>
        </p:nvSpPr>
        <p:spPr>
          <a:xfrm>
            <a:off x="6196310" y="3285232"/>
            <a:ext cx="2547640" cy="303907"/>
          </a:xfrm>
          <a:prstGeom prst="roundRect">
            <a:avLst>
              <a:gd name="adj" fmla="val 14208"/>
            </a:avLst>
          </a:prstGeom>
          <a:gradFill rotWithShape="1">
            <a:gsLst>
              <a:gs pos="0">
                <a:srgbClr val="1FB8CD">
                  <a:alpha val="10000"/>
                </a:srgbClr>
              </a:gs>
              <a:gs pos="100000">
                <a:srgbClr val="1FB8CD">
                  <a:alpha val="4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0"/>
          <p:cNvSpPr/>
          <p:nvPr/>
        </p:nvSpPr>
        <p:spPr>
          <a:xfrm>
            <a:off x="6196310" y="3285232"/>
            <a:ext cx="9525" cy="303907"/>
          </a:xfrm>
          <a:custGeom>
            <a:avLst/>
            <a:gdLst/>
            <a:ahLst/>
            <a:cxnLst/>
            <a:rect l="l" t="t" r="r" b="b"/>
            <a:pathLst>
              <a:path w="9525" h="303907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87780"/>
                </a:lnTo>
                <a:lnTo>
                  <a:pt x="8334" y="286228"/>
                </a:lnTo>
                <a:lnTo>
                  <a:pt x="7144" y="284516"/>
                </a:lnTo>
                <a:lnTo>
                  <a:pt x="5953" y="282606"/>
                </a:lnTo>
                <a:lnTo>
                  <a:pt x="4763" y="280440"/>
                </a:lnTo>
                <a:lnTo>
                  <a:pt x="3572" y="277923"/>
                </a:lnTo>
                <a:lnTo>
                  <a:pt x="2381" y="274868"/>
                </a:lnTo>
                <a:lnTo>
                  <a:pt x="1191" y="270797"/>
                </a:lnTo>
                <a:lnTo>
                  <a:pt x="0" y="260727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1"/>
          <p:cNvSpPr/>
          <p:nvPr/>
        </p:nvSpPr>
        <p:spPr>
          <a:xfrm>
            <a:off x="6262985" y="3320653"/>
            <a:ext cx="409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560" dirty="0"/>
          </a:p>
        </p:txBody>
      </p:sp>
      <p:sp>
        <p:nvSpPr>
          <p:cNvPr id="80" name="Text 72"/>
          <p:cNvSpPr/>
          <p:nvPr/>
        </p:nvSpPr>
        <p:spPr>
          <a:xfrm>
            <a:off x="6684466" y="3320653"/>
            <a:ext cx="204238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2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markets demanding rapid, iterative feature delivery</a:t>
            </a:r>
            <a:endParaRPr lang="en-US" sz="680" dirty="0"/>
          </a:p>
        </p:txBody>
      </p:sp>
      <p:sp>
        <p:nvSpPr>
          <p:cNvPr id="81" name="Text 73"/>
          <p:cNvSpPr/>
          <p:nvPr/>
        </p:nvSpPr>
        <p:spPr>
          <a:xfrm>
            <a:off x="6196310" y="3624560"/>
            <a:ext cx="2547640" cy="303907"/>
          </a:xfrm>
          <a:prstGeom prst="roundRect">
            <a:avLst>
              <a:gd name="adj" fmla="val 14208"/>
            </a:avLst>
          </a:prstGeom>
          <a:gradFill rotWithShape="1">
            <a:gsLst>
              <a:gs pos="0">
                <a:srgbClr val="0D1B2A">
                  <a:alpha val="6000"/>
                </a:srgbClr>
              </a:gs>
              <a:gs pos="100000">
                <a:srgbClr val="0D1B2A">
                  <a:alpha val="2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4"/>
          <p:cNvSpPr/>
          <p:nvPr/>
        </p:nvSpPr>
        <p:spPr>
          <a:xfrm>
            <a:off x="6196310" y="3624560"/>
            <a:ext cx="9525" cy="303907"/>
          </a:xfrm>
          <a:custGeom>
            <a:avLst/>
            <a:gdLst/>
            <a:ahLst/>
            <a:cxnLst/>
            <a:rect l="l" t="t" r="r" b="b"/>
            <a:pathLst>
              <a:path w="9525" h="303907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87780"/>
                </a:lnTo>
                <a:lnTo>
                  <a:pt x="8334" y="286228"/>
                </a:lnTo>
                <a:lnTo>
                  <a:pt x="7144" y="284516"/>
                </a:lnTo>
                <a:lnTo>
                  <a:pt x="5953" y="282606"/>
                </a:lnTo>
                <a:lnTo>
                  <a:pt x="4763" y="280440"/>
                </a:lnTo>
                <a:lnTo>
                  <a:pt x="3572" y="277923"/>
                </a:lnTo>
                <a:lnTo>
                  <a:pt x="2381" y="274868"/>
                </a:lnTo>
                <a:lnTo>
                  <a:pt x="1191" y="270797"/>
                </a:lnTo>
                <a:lnTo>
                  <a:pt x="0" y="260727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75"/>
          <p:cNvSpPr/>
          <p:nvPr/>
        </p:nvSpPr>
        <p:spPr>
          <a:xfrm>
            <a:off x="6262985" y="3659981"/>
            <a:ext cx="409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560" dirty="0"/>
          </a:p>
        </p:txBody>
      </p:sp>
      <p:sp>
        <p:nvSpPr>
          <p:cNvPr id="84" name="Text 76"/>
          <p:cNvSpPr/>
          <p:nvPr/>
        </p:nvSpPr>
        <p:spPr>
          <a:xfrm>
            <a:off x="6684466" y="3659981"/>
            <a:ext cx="204238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dirty="0">
                <a:solidFill>
                  <a:srgbClr val="2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contract-bound deliverables with fixed scope</a:t>
            </a:r>
            <a:endParaRPr lang="en-US" sz="680" dirty="0"/>
          </a:p>
        </p:txBody>
      </p:sp>
      <p:sp>
        <p:nvSpPr>
          <p:cNvPr id="85" name="Text 77"/>
          <p:cNvSpPr/>
          <p:nvPr/>
        </p:nvSpPr>
        <p:spPr>
          <a:xfrm>
            <a:off x="43160" y="4743450"/>
            <a:ext cx="9100840" cy="40005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8"/>
          <p:cNvSpPr/>
          <p:nvPr/>
        </p:nvSpPr>
        <p:spPr>
          <a:xfrm>
            <a:off x="328910" y="4843165"/>
            <a:ext cx="200620" cy="200620"/>
          </a:xfrm>
          <a:prstGeom prst="ellipse">
            <a:avLst/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2852" y="4877107"/>
            <a:ext cx="132588" cy="132588"/>
          </a:xfrm>
          <a:prstGeom prst="rect">
            <a:avLst/>
          </a:prstGeom>
        </p:spPr>
      </p:pic>
      <p:sp>
        <p:nvSpPr>
          <p:cNvPr id="88" name="Text 79"/>
          <p:cNvSpPr/>
          <p:nvPr/>
        </p:nvSpPr>
        <p:spPr>
          <a:xfrm>
            <a:off x="600521" y="4881265"/>
            <a:ext cx="5160660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Many enterprise projects benefit from a hybrid approach — Agile delivery within a Waterfall governance structure.</a:t>
            </a:r>
            <a:endParaRPr lang="en-US" sz="700" dirty="0"/>
          </a:p>
        </p:txBody>
      </p:sp>
      <p:sp>
        <p:nvSpPr>
          <p:cNvPr id="89" name="Text 80"/>
          <p:cNvSpPr/>
          <p:nvPr/>
        </p:nvSpPr>
        <p:spPr>
          <a:xfrm>
            <a:off x="7557403" y="4884390"/>
            <a:ext cx="130084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30"/>
              </a:lnSpc>
              <a:buNone/>
            </a:pPr>
            <a:r>
              <a:rPr lang="en-US" sz="620" i="1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Denning (2018). </a:t>
            </a:r>
            <a:pPr algn="r" indent="0" marL="0">
              <a:lnSpc>
                <a:spcPts val="930"/>
              </a:lnSpc>
              <a:buNone/>
            </a:pPr>
            <a:r>
              <a:rPr lang="en-US" sz="620" i="1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 of Agile.</a:t>
            </a:r>
            <a:endParaRPr lang="en-US" sz="620" dirty="0"/>
          </a:p>
        </p:txBody>
      </p:sp>
      <p:sp>
        <p:nvSpPr>
          <p:cNvPr id="90" name="Text 81"/>
          <p:cNvSpPr/>
          <p:nvPr/>
        </p:nvSpPr>
        <p:spPr>
          <a:xfrm>
            <a:off x="2748413" y="862161"/>
            <a:ext cx="356741" cy="356741"/>
          </a:xfrm>
          <a:custGeom>
            <a:avLst/>
            <a:gdLst/>
            <a:ahLst/>
            <a:cxnLst/>
            <a:rect l="l" t="t" r="r" b="b"/>
            <a:pathLst>
              <a:path w="356741" h="356741">
                <a:moveTo>
                  <a:pt x="0" y="0"/>
                </a:moveTo>
                <a:lnTo>
                  <a:pt x="285621" y="0"/>
                </a:lnTo>
                <a:lnTo>
                  <a:pt x="285621" y="0"/>
                </a:lnTo>
                <a:lnTo>
                  <a:pt x="299496" y="1367"/>
                </a:lnTo>
                <a:lnTo>
                  <a:pt x="312837" y="5414"/>
                </a:lnTo>
                <a:lnTo>
                  <a:pt x="325133" y="11986"/>
                </a:lnTo>
                <a:lnTo>
                  <a:pt x="335910" y="20831"/>
                </a:lnTo>
                <a:lnTo>
                  <a:pt x="344755" y="31608"/>
                </a:lnTo>
                <a:lnTo>
                  <a:pt x="351327" y="43904"/>
                </a:lnTo>
                <a:lnTo>
                  <a:pt x="355374" y="57245"/>
                </a:lnTo>
                <a:lnTo>
                  <a:pt x="356741" y="71120"/>
                </a:lnTo>
                <a:lnTo>
                  <a:pt x="356741" y="356741"/>
                </a:lnTo>
                <a:lnTo>
                  <a:pt x="0" y="356741"/>
                </a:lnTo>
                <a:close/>
              </a:path>
            </a:pathLst>
          </a:custGeom>
          <a:gradFill rotWithShape="1">
            <a:gsLst>
              <a:gs pos="0">
                <a:srgbClr val="1FB8CD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2"/>
          <p:cNvSpPr/>
          <p:nvPr/>
        </p:nvSpPr>
        <p:spPr>
          <a:xfrm>
            <a:off x="5624963" y="862161"/>
            <a:ext cx="356741" cy="356741"/>
          </a:xfrm>
          <a:custGeom>
            <a:avLst/>
            <a:gdLst/>
            <a:ahLst/>
            <a:cxnLst/>
            <a:rect l="l" t="t" r="r" b="b"/>
            <a:pathLst>
              <a:path w="356741" h="356741">
                <a:moveTo>
                  <a:pt x="0" y="0"/>
                </a:moveTo>
                <a:lnTo>
                  <a:pt x="285621" y="0"/>
                </a:lnTo>
                <a:lnTo>
                  <a:pt x="285621" y="0"/>
                </a:lnTo>
                <a:lnTo>
                  <a:pt x="299496" y="1367"/>
                </a:lnTo>
                <a:lnTo>
                  <a:pt x="312837" y="5414"/>
                </a:lnTo>
                <a:lnTo>
                  <a:pt x="325133" y="11986"/>
                </a:lnTo>
                <a:lnTo>
                  <a:pt x="335910" y="20831"/>
                </a:lnTo>
                <a:lnTo>
                  <a:pt x="344755" y="31608"/>
                </a:lnTo>
                <a:lnTo>
                  <a:pt x="351327" y="43904"/>
                </a:lnTo>
                <a:lnTo>
                  <a:pt x="355374" y="57245"/>
                </a:lnTo>
                <a:lnTo>
                  <a:pt x="356741" y="71120"/>
                </a:lnTo>
                <a:lnTo>
                  <a:pt x="356741" y="356741"/>
                </a:lnTo>
                <a:lnTo>
                  <a:pt x="0" y="356741"/>
                </a:lnTo>
                <a:close/>
              </a:path>
            </a:pathLst>
          </a:custGeom>
          <a:gradFill rotWithShape="1">
            <a:gsLst>
              <a:gs pos="0">
                <a:srgbClr val="1FB8CD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3"/>
          <p:cNvSpPr/>
          <p:nvPr/>
        </p:nvSpPr>
        <p:spPr>
          <a:xfrm>
            <a:off x="8501513" y="862161"/>
            <a:ext cx="356741" cy="356741"/>
          </a:xfrm>
          <a:custGeom>
            <a:avLst/>
            <a:gdLst/>
            <a:ahLst/>
            <a:cxnLst/>
            <a:rect l="l" t="t" r="r" b="b"/>
            <a:pathLst>
              <a:path w="356741" h="356741">
                <a:moveTo>
                  <a:pt x="0" y="0"/>
                </a:moveTo>
                <a:lnTo>
                  <a:pt x="285621" y="0"/>
                </a:lnTo>
                <a:lnTo>
                  <a:pt x="285621" y="0"/>
                </a:lnTo>
                <a:lnTo>
                  <a:pt x="299496" y="1367"/>
                </a:lnTo>
                <a:lnTo>
                  <a:pt x="312837" y="5414"/>
                </a:lnTo>
                <a:lnTo>
                  <a:pt x="325133" y="11986"/>
                </a:lnTo>
                <a:lnTo>
                  <a:pt x="335910" y="20831"/>
                </a:lnTo>
                <a:lnTo>
                  <a:pt x="344755" y="31608"/>
                </a:lnTo>
                <a:lnTo>
                  <a:pt x="351327" y="43904"/>
                </a:lnTo>
                <a:lnTo>
                  <a:pt x="355374" y="57245"/>
                </a:lnTo>
                <a:lnTo>
                  <a:pt x="356741" y="71120"/>
                </a:lnTo>
                <a:lnTo>
                  <a:pt x="356741" y="356741"/>
                </a:lnTo>
                <a:lnTo>
                  <a:pt x="0" y="356741"/>
                </a:lnTo>
                <a:close/>
              </a:path>
            </a:pathLst>
          </a:custGeom>
          <a:gradFill rotWithShape="1">
            <a:gsLst>
              <a:gs pos="0">
                <a:srgbClr val="1FB8CD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84"/>
          <p:cNvSpPr/>
          <p:nvPr/>
        </p:nvSpPr>
        <p:spPr>
          <a:xfrm>
            <a:off x="2748413" y="2862411"/>
            <a:ext cx="356741" cy="356741"/>
          </a:xfrm>
          <a:custGeom>
            <a:avLst/>
            <a:gdLst/>
            <a:ahLst/>
            <a:cxnLst/>
            <a:rect l="l" t="t" r="r" b="b"/>
            <a:pathLst>
              <a:path w="356741" h="356741">
                <a:moveTo>
                  <a:pt x="0" y="0"/>
                </a:moveTo>
                <a:lnTo>
                  <a:pt x="285621" y="0"/>
                </a:lnTo>
                <a:lnTo>
                  <a:pt x="285621" y="0"/>
                </a:lnTo>
                <a:lnTo>
                  <a:pt x="299496" y="1367"/>
                </a:lnTo>
                <a:lnTo>
                  <a:pt x="312837" y="5414"/>
                </a:lnTo>
                <a:lnTo>
                  <a:pt x="325133" y="11986"/>
                </a:lnTo>
                <a:lnTo>
                  <a:pt x="335910" y="20831"/>
                </a:lnTo>
                <a:lnTo>
                  <a:pt x="344755" y="31608"/>
                </a:lnTo>
                <a:lnTo>
                  <a:pt x="351327" y="43904"/>
                </a:lnTo>
                <a:lnTo>
                  <a:pt x="355374" y="57245"/>
                </a:lnTo>
                <a:lnTo>
                  <a:pt x="356741" y="71120"/>
                </a:lnTo>
                <a:lnTo>
                  <a:pt x="356741" y="356741"/>
                </a:lnTo>
                <a:lnTo>
                  <a:pt x="0" y="356741"/>
                </a:lnTo>
                <a:close/>
              </a:path>
            </a:pathLst>
          </a:custGeom>
          <a:gradFill rotWithShape="1">
            <a:gsLst>
              <a:gs pos="0">
                <a:srgbClr val="1FB8CD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85"/>
          <p:cNvSpPr/>
          <p:nvPr/>
        </p:nvSpPr>
        <p:spPr>
          <a:xfrm>
            <a:off x="5624963" y="2862411"/>
            <a:ext cx="356741" cy="356741"/>
          </a:xfrm>
          <a:custGeom>
            <a:avLst/>
            <a:gdLst/>
            <a:ahLst/>
            <a:cxnLst/>
            <a:rect l="l" t="t" r="r" b="b"/>
            <a:pathLst>
              <a:path w="356741" h="356741">
                <a:moveTo>
                  <a:pt x="0" y="0"/>
                </a:moveTo>
                <a:lnTo>
                  <a:pt x="285621" y="0"/>
                </a:lnTo>
                <a:lnTo>
                  <a:pt x="285621" y="0"/>
                </a:lnTo>
                <a:lnTo>
                  <a:pt x="299496" y="1367"/>
                </a:lnTo>
                <a:lnTo>
                  <a:pt x="312837" y="5414"/>
                </a:lnTo>
                <a:lnTo>
                  <a:pt x="325133" y="11986"/>
                </a:lnTo>
                <a:lnTo>
                  <a:pt x="335910" y="20831"/>
                </a:lnTo>
                <a:lnTo>
                  <a:pt x="344755" y="31608"/>
                </a:lnTo>
                <a:lnTo>
                  <a:pt x="351327" y="43904"/>
                </a:lnTo>
                <a:lnTo>
                  <a:pt x="355374" y="57245"/>
                </a:lnTo>
                <a:lnTo>
                  <a:pt x="356741" y="71120"/>
                </a:lnTo>
                <a:lnTo>
                  <a:pt x="356741" y="356741"/>
                </a:lnTo>
                <a:lnTo>
                  <a:pt x="0" y="356741"/>
                </a:lnTo>
                <a:close/>
              </a:path>
            </a:pathLst>
          </a:custGeom>
          <a:gradFill rotWithShape="1">
            <a:gsLst>
              <a:gs pos="0">
                <a:srgbClr val="1FB8CD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86"/>
          <p:cNvSpPr/>
          <p:nvPr/>
        </p:nvSpPr>
        <p:spPr>
          <a:xfrm>
            <a:off x="8501513" y="2862411"/>
            <a:ext cx="356741" cy="356741"/>
          </a:xfrm>
          <a:custGeom>
            <a:avLst/>
            <a:gdLst/>
            <a:ahLst/>
            <a:cxnLst/>
            <a:rect l="l" t="t" r="r" b="b"/>
            <a:pathLst>
              <a:path w="356741" h="356741">
                <a:moveTo>
                  <a:pt x="0" y="0"/>
                </a:moveTo>
                <a:lnTo>
                  <a:pt x="285621" y="0"/>
                </a:lnTo>
                <a:lnTo>
                  <a:pt x="285621" y="0"/>
                </a:lnTo>
                <a:lnTo>
                  <a:pt x="299496" y="1367"/>
                </a:lnTo>
                <a:lnTo>
                  <a:pt x="312837" y="5414"/>
                </a:lnTo>
                <a:lnTo>
                  <a:pt x="325133" y="11986"/>
                </a:lnTo>
                <a:lnTo>
                  <a:pt x="335910" y="20831"/>
                </a:lnTo>
                <a:lnTo>
                  <a:pt x="344755" y="31608"/>
                </a:lnTo>
                <a:lnTo>
                  <a:pt x="351327" y="43904"/>
                </a:lnTo>
                <a:lnTo>
                  <a:pt x="355374" y="57245"/>
                </a:lnTo>
                <a:lnTo>
                  <a:pt x="356741" y="71120"/>
                </a:lnTo>
                <a:lnTo>
                  <a:pt x="356741" y="356741"/>
                </a:lnTo>
                <a:lnTo>
                  <a:pt x="0" y="356741"/>
                </a:lnTo>
                <a:close/>
              </a:path>
            </a:pathLst>
          </a:custGeom>
          <a:gradFill rotWithShape="1">
            <a:gsLst>
              <a:gs pos="0">
                <a:srgbClr val="1FB8CD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1FB8CD"/>
              </a:gs>
              <a:gs pos="60000">
                <a:srgbClr val="0D8FA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00280" y="3143250"/>
            <a:ext cx="2143720" cy="2000250"/>
          </a:xfrm>
          <a:prstGeom prst="ellipse">
            <a:avLst/>
          </a:prstGeom>
          <a:gradFill rotWithShape="1">
            <a:gsLst>
              <a:gs pos="0">
                <a:srgbClr val="1FB8CD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428750" cy="1428750"/>
          </a:xfrm>
          <a:prstGeom prst="ellipse">
            <a:avLst/>
          </a:prstGeom>
          <a:gradFill rotWithShape="1">
            <a:gsLst>
              <a:gs pos="0">
                <a:srgbClr val="1FB8CD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4530" y="42922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1FB8CD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257770"/>
            <a:ext cx="473010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88" kern="0" dirty="0">
                <a:solidFill>
                  <a:srgbClr val="1FB8CD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CHADATECH LEADERSHIP SUMMARY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400050" y="439936"/>
            <a:ext cx="4601097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690" spc="68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1690" dirty="0"/>
          </a:p>
        </p:txBody>
      </p:sp>
      <p:sp>
        <p:nvSpPr>
          <p:cNvPr id="8" name="Text 6"/>
          <p:cNvSpPr/>
          <p:nvPr/>
        </p:nvSpPr>
        <p:spPr>
          <a:xfrm>
            <a:off x="400050" y="791021"/>
            <a:ext cx="342900" cy="21580"/>
          </a:xfrm>
          <a:prstGeom prst="roundRect">
            <a:avLst>
              <a:gd name="adj" fmla="val 64736"/>
            </a:avLst>
          </a:prstGeom>
          <a:solidFill>
            <a:srgbClr val="1FB8C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926902"/>
            <a:ext cx="4300091" cy="614214"/>
          </a:xfrm>
          <a:prstGeom prst="roundRect">
            <a:avLst>
              <a:gd name="adj" fmla="val 7030"/>
            </a:avLst>
          </a:prstGeom>
          <a:solidFill>
            <a:srgbClr val="16223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926902"/>
            <a:ext cx="19050" cy="614214"/>
          </a:xfrm>
          <a:custGeom>
            <a:avLst/>
            <a:gdLst/>
            <a:ahLst/>
            <a:cxnLst/>
            <a:rect l="l" t="t" r="r" b="b"/>
            <a:pathLst>
              <a:path w="19050" h="614214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606842"/>
                </a:lnTo>
                <a:lnTo>
                  <a:pt x="16669" y="605117"/>
                </a:lnTo>
                <a:lnTo>
                  <a:pt x="14288" y="603123"/>
                </a:lnTo>
                <a:lnTo>
                  <a:pt x="11906" y="600807"/>
                </a:lnTo>
                <a:lnTo>
                  <a:pt x="9525" y="598086"/>
                </a:lnTo>
                <a:lnTo>
                  <a:pt x="7144" y="594822"/>
                </a:lnTo>
                <a:lnTo>
                  <a:pt x="4763" y="590747"/>
                </a:lnTo>
                <a:lnTo>
                  <a:pt x="2381" y="585175"/>
                </a:lnTo>
                <a:lnTo>
                  <a:pt x="0" y="571034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9410" y="1015008"/>
            <a:ext cx="228600" cy="251460"/>
          </a:xfrm>
          <a:prstGeom prst="ellipse">
            <a:avLst/>
          </a:prstGeom>
          <a:solidFill>
            <a:srgbClr val="1FB8CD">
              <a:alpha val="12000"/>
            </a:srgbClr>
          </a:solidFill>
          <a:ln w="9525">
            <a:solidFill>
              <a:srgbClr val="1FB8CD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84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838" y="1030346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28254" y="1007418"/>
            <a:ext cx="3633293" cy="475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Scrum-Agile is built for change.</a:t>
            </a:r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Three defined roles — Scrum Master, Product Owner, and Developers — each carry clear accountability for value delivery.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400050" y="1605855"/>
            <a:ext cx="4300091" cy="463153"/>
          </a:xfrm>
          <a:prstGeom prst="roundRect">
            <a:avLst>
              <a:gd name="adj" fmla="val 9323"/>
            </a:avLst>
          </a:prstGeom>
          <a:solidFill>
            <a:srgbClr val="16223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00050" y="1605855"/>
            <a:ext cx="19050" cy="463153"/>
          </a:xfrm>
          <a:custGeom>
            <a:avLst/>
            <a:gdLst/>
            <a:ahLst/>
            <a:cxnLst/>
            <a:rect l="l" t="t" r="r" b="b"/>
            <a:pathLst>
              <a:path w="19050" h="463153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55782"/>
                </a:lnTo>
                <a:lnTo>
                  <a:pt x="16669" y="454056"/>
                </a:lnTo>
                <a:lnTo>
                  <a:pt x="14288" y="452063"/>
                </a:lnTo>
                <a:lnTo>
                  <a:pt x="11906" y="449747"/>
                </a:lnTo>
                <a:lnTo>
                  <a:pt x="9525" y="447026"/>
                </a:lnTo>
                <a:lnTo>
                  <a:pt x="7144" y="443762"/>
                </a:lnTo>
                <a:lnTo>
                  <a:pt x="4763" y="439686"/>
                </a:lnTo>
                <a:lnTo>
                  <a:pt x="2381" y="434114"/>
                </a:lnTo>
                <a:lnTo>
                  <a:pt x="0" y="419973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19410" y="1693962"/>
            <a:ext cx="228600" cy="251460"/>
          </a:xfrm>
          <a:prstGeom prst="ellipse">
            <a:avLst/>
          </a:prstGeom>
          <a:solidFill>
            <a:srgbClr val="1FB8CD">
              <a:alpha val="12000"/>
            </a:srgbClr>
          </a:solidFill>
          <a:ln w="9525">
            <a:solidFill>
              <a:srgbClr val="1FB8CD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84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838" y="1709300"/>
            <a:ext cx="132588" cy="132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28254" y="1686371"/>
            <a:ext cx="363329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produces real, working software.</a:t>
            </a:r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Stakeholders see and validate progress every 1–4 weeks, dramatically reducing delivery risk.</a:t>
            </a:r>
            <a:endParaRPr lang="en-US" sz="820" dirty="0"/>
          </a:p>
        </p:txBody>
      </p:sp>
      <p:sp>
        <p:nvSpPr>
          <p:cNvPr id="19" name="Text 15"/>
          <p:cNvSpPr/>
          <p:nvPr/>
        </p:nvSpPr>
        <p:spPr>
          <a:xfrm>
            <a:off x="400050" y="2133749"/>
            <a:ext cx="4300091" cy="614214"/>
          </a:xfrm>
          <a:prstGeom prst="roundRect">
            <a:avLst>
              <a:gd name="adj" fmla="val 7030"/>
            </a:avLst>
          </a:prstGeom>
          <a:solidFill>
            <a:srgbClr val="16223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00050" y="2133749"/>
            <a:ext cx="19050" cy="614214"/>
          </a:xfrm>
          <a:custGeom>
            <a:avLst/>
            <a:gdLst/>
            <a:ahLst/>
            <a:cxnLst/>
            <a:rect l="l" t="t" r="r" b="b"/>
            <a:pathLst>
              <a:path w="19050" h="614214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606842"/>
                </a:lnTo>
                <a:lnTo>
                  <a:pt x="16669" y="605117"/>
                </a:lnTo>
                <a:lnTo>
                  <a:pt x="14288" y="603123"/>
                </a:lnTo>
                <a:lnTo>
                  <a:pt x="11906" y="600807"/>
                </a:lnTo>
                <a:lnTo>
                  <a:pt x="9525" y="598086"/>
                </a:lnTo>
                <a:lnTo>
                  <a:pt x="7144" y="594822"/>
                </a:lnTo>
                <a:lnTo>
                  <a:pt x="4763" y="590747"/>
                </a:lnTo>
                <a:lnTo>
                  <a:pt x="2381" y="585175"/>
                </a:lnTo>
                <a:lnTo>
                  <a:pt x="0" y="571034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19410" y="2221855"/>
            <a:ext cx="228600" cy="251460"/>
          </a:xfrm>
          <a:prstGeom prst="ellipse">
            <a:avLst/>
          </a:prstGeom>
          <a:solidFill>
            <a:srgbClr val="1FB8CD">
              <a:alpha val="12000"/>
            </a:srgbClr>
          </a:solidFill>
          <a:ln w="9525">
            <a:solidFill>
              <a:srgbClr val="1FB8CD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84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alphaModFix amt="8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838" y="2237193"/>
            <a:ext cx="132588" cy="132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28254" y="2214265"/>
            <a:ext cx="3633293" cy="475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outperforms Waterfall in dynamic environments.</a:t>
            </a:r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customer-facing, innovation-driven products like SNHU Travel, Agile delivers faster and with higher customer satisfaction.</a:t>
            </a:r>
            <a:endParaRPr lang="en-US" sz="820" dirty="0"/>
          </a:p>
        </p:txBody>
      </p:sp>
      <p:sp>
        <p:nvSpPr>
          <p:cNvPr id="24" name="Text 19"/>
          <p:cNvSpPr/>
          <p:nvPr/>
        </p:nvSpPr>
        <p:spPr>
          <a:xfrm>
            <a:off x="400050" y="2812703"/>
            <a:ext cx="4300091" cy="463153"/>
          </a:xfrm>
          <a:prstGeom prst="roundRect">
            <a:avLst>
              <a:gd name="adj" fmla="val 9323"/>
            </a:avLst>
          </a:prstGeom>
          <a:solidFill>
            <a:srgbClr val="16223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00050" y="2812703"/>
            <a:ext cx="19050" cy="463153"/>
          </a:xfrm>
          <a:custGeom>
            <a:avLst/>
            <a:gdLst/>
            <a:ahLst/>
            <a:cxnLst/>
            <a:rect l="l" t="t" r="r" b="b"/>
            <a:pathLst>
              <a:path w="19050" h="463153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55782"/>
                </a:lnTo>
                <a:lnTo>
                  <a:pt x="16669" y="454056"/>
                </a:lnTo>
                <a:lnTo>
                  <a:pt x="14288" y="452063"/>
                </a:lnTo>
                <a:lnTo>
                  <a:pt x="11906" y="449747"/>
                </a:lnTo>
                <a:lnTo>
                  <a:pt x="9525" y="447026"/>
                </a:lnTo>
                <a:lnTo>
                  <a:pt x="7144" y="443762"/>
                </a:lnTo>
                <a:lnTo>
                  <a:pt x="4763" y="439686"/>
                </a:lnTo>
                <a:lnTo>
                  <a:pt x="2381" y="434114"/>
                </a:lnTo>
                <a:lnTo>
                  <a:pt x="0" y="419973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519410" y="2900809"/>
            <a:ext cx="228600" cy="251460"/>
          </a:xfrm>
          <a:prstGeom prst="ellipse">
            <a:avLst/>
          </a:prstGeom>
          <a:solidFill>
            <a:srgbClr val="1FB8CD">
              <a:alpha val="12000"/>
            </a:srgbClr>
          </a:solidFill>
          <a:ln w="9525">
            <a:solidFill>
              <a:srgbClr val="1FB8CD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84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1838" y="2916147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28254" y="2893219"/>
            <a:ext cx="363329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still has a place.</a:t>
            </a:r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Fixed-scope, compliance-heavy, or hardware-dependent projects may benefit from Waterfall's structured predictability.</a:t>
            </a:r>
            <a:endParaRPr lang="en-US" sz="820" dirty="0"/>
          </a:p>
        </p:txBody>
      </p:sp>
      <p:sp>
        <p:nvSpPr>
          <p:cNvPr id="29" name="Text 23"/>
          <p:cNvSpPr/>
          <p:nvPr/>
        </p:nvSpPr>
        <p:spPr>
          <a:xfrm>
            <a:off x="400050" y="3340596"/>
            <a:ext cx="4300091" cy="614214"/>
          </a:xfrm>
          <a:prstGeom prst="roundRect">
            <a:avLst>
              <a:gd name="adj" fmla="val 7030"/>
            </a:avLst>
          </a:prstGeom>
          <a:solidFill>
            <a:srgbClr val="16223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00050" y="3340596"/>
            <a:ext cx="19050" cy="614214"/>
          </a:xfrm>
          <a:custGeom>
            <a:avLst/>
            <a:gdLst/>
            <a:ahLst/>
            <a:cxnLst/>
            <a:rect l="l" t="t" r="r" b="b"/>
            <a:pathLst>
              <a:path w="19050" h="614214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606842"/>
                </a:lnTo>
                <a:lnTo>
                  <a:pt x="16669" y="605117"/>
                </a:lnTo>
                <a:lnTo>
                  <a:pt x="14288" y="603123"/>
                </a:lnTo>
                <a:lnTo>
                  <a:pt x="11906" y="600807"/>
                </a:lnTo>
                <a:lnTo>
                  <a:pt x="9525" y="598086"/>
                </a:lnTo>
                <a:lnTo>
                  <a:pt x="7144" y="594822"/>
                </a:lnTo>
                <a:lnTo>
                  <a:pt x="4763" y="590747"/>
                </a:lnTo>
                <a:lnTo>
                  <a:pt x="2381" y="585175"/>
                </a:lnTo>
                <a:lnTo>
                  <a:pt x="0" y="571034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519410" y="3428702"/>
            <a:ext cx="228600" cy="251460"/>
          </a:xfrm>
          <a:prstGeom prst="ellipse">
            <a:avLst/>
          </a:prstGeom>
          <a:solidFill>
            <a:srgbClr val="1FB8CD">
              <a:alpha val="12000"/>
            </a:srgbClr>
          </a:solidFill>
          <a:ln w="9525">
            <a:solidFill>
              <a:srgbClr val="1FB8CD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84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alphaModFix amt="85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1838" y="3444041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28254" y="3421112"/>
            <a:ext cx="3633293" cy="475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is strategic, not dogmatic.</a:t>
            </a:r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Evaluate requirements clarity, stakeholder availability, regulatory context, and risk tolerance — then choose the right tool for the job.</a:t>
            </a:r>
            <a:endParaRPr lang="en-US" sz="82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21586" y="1222177"/>
            <a:ext cx="1393478" cy="139347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50546" y="1780208"/>
            <a:ext cx="400050" cy="400050"/>
          </a:xfrm>
          <a:prstGeom prst="ellipse">
            <a:avLst/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4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81068" y="1910730"/>
            <a:ext cx="139005" cy="13900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730544" y="2251249"/>
            <a:ext cx="44005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spc="73" kern="0" dirty="0">
                <a:solidFill>
                  <a:srgbClr val="1FB8CD">
                    <a:alpha val="9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AGILE</a:t>
            </a:r>
            <a:endParaRPr lang="en-US" sz="730" dirty="0"/>
          </a:p>
        </p:txBody>
      </p:sp>
      <p:sp>
        <p:nvSpPr>
          <p:cNvPr id="38" name="Text 29"/>
          <p:cNvSpPr/>
          <p:nvPr/>
        </p:nvSpPr>
        <p:spPr>
          <a:xfrm>
            <a:off x="6730544" y="2404095"/>
            <a:ext cx="44005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spc="37" kern="0" dirty="0">
                <a:solidFill>
                  <a:srgbClr val="7DA3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MINDSET</a:t>
            </a:r>
            <a:endParaRPr lang="en-US" sz="620" dirty="0"/>
          </a:p>
        </p:txBody>
      </p:sp>
      <p:sp>
        <p:nvSpPr>
          <p:cNvPr id="39" name="Text 30"/>
          <p:cNvSpPr/>
          <p:nvPr/>
        </p:nvSpPr>
        <p:spPr>
          <a:xfrm>
            <a:off x="6918201" y="1279327"/>
            <a:ext cx="64740" cy="64740"/>
          </a:xfrm>
          <a:prstGeom prst="ellipse">
            <a:avLst/>
          </a:prstGeom>
          <a:solidFill>
            <a:srgbClr val="1FB8CD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7658695" y="2930426"/>
            <a:ext cx="49411" cy="49411"/>
          </a:xfrm>
          <a:prstGeom prst="ellipse">
            <a:avLst/>
          </a:prstGeom>
          <a:solidFill>
            <a:srgbClr val="1FB8CD">
              <a:alpha val="4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6078736" y="2129582"/>
            <a:ext cx="43160" cy="43160"/>
          </a:xfrm>
          <a:prstGeom prst="ellipse">
            <a:avLst/>
          </a:prstGeom>
          <a:solidFill>
            <a:srgbClr val="1FB8CD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7601694" y="1464618"/>
            <a:ext cx="35421" cy="35421"/>
          </a:xfrm>
          <a:prstGeom prst="ellipse">
            <a:avLst/>
          </a:prstGeom>
          <a:solidFill>
            <a:srgbClr val="1FB8CD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4"/>
          <p:cNvSpPr/>
          <p:nvPr/>
        </p:nvSpPr>
        <p:spPr>
          <a:xfrm>
            <a:off x="6236196" y="2816126"/>
            <a:ext cx="35421" cy="35421"/>
          </a:xfrm>
          <a:prstGeom prst="ellipse">
            <a:avLst/>
          </a:prstGeom>
          <a:solidFill>
            <a:srgbClr val="1FB8CD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5"/>
          <p:cNvSpPr/>
          <p:nvPr/>
        </p:nvSpPr>
        <p:spPr>
          <a:xfrm>
            <a:off x="8121848" y="458391"/>
            <a:ext cx="62013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Sprint: 1–4 wks</a:t>
            </a:r>
            <a:endParaRPr lang="en-US" sz="650" dirty="0"/>
          </a:p>
        </p:txBody>
      </p:sp>
      <p:sp>
        <p:nvSpPr>
          <p:cNvPr id="45" name="Text 36"/>
          <p:cNvSpPr/>
          <p:nvPr/>
        </p:nvSpPr>
        <p:spPr>
          <a:xfrm>
            <a:off x="8728770" y="498723"/>
            <a:ext cx="43160" cy="43160"/>
          </a:xfrm>
          <a:prstGeom prst="ellipse">
            <a:avLst/>
          </a:prstGeom>
          <a:solidFill>
            <a:srgbClr val="1FB8CD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8108007" y="639366"/>
            <a:ext cx="63536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&amp; Adapt</a:t>
            </a:r>
            <a:endParaRPr lang="en-US" sz="650" dirty="0"/>
          </a:p>
        </p:txBody>
      </p:sp>
      <p:sp>
        <p:nvSpPr>
          <p:cNvPr id="47" name="Text 38"/>
          <p:cNvSpPr/>
          <p:nvPr/>
        </p:nvSpPr>
        <p:spPr>
          <a:xfrm>
            <a:off x="8728770" y="679698"/>
            <a:ext cx="43160" cy="43160"/>
          </a:xfrm>
          <a:prstGeom prst="ellipse">
            <a:avLst/>
          </a:prstGeom>
          <a:solidFill>
            <a:srgbClr val="1FB8CD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9"/>
          <p:cNvSpPr/>
          <p:nvPr/>
        </p:nvSpPr>
        <p:spPr>
          <a:xfrm>
            <a:off x="8048625" y="820341"/>
            <a:ext cx="700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Every Sprint</a:t>
            </a:r>
            <a:endParaRPr lang="en-US" sz="650" dirty="0"/>
          </a:p>
        </p:txBody>
      </p:sp>
      <p:sp>
        <p:nvSpPr>
          <p:cNvPr id="49" name="Text 40"/>
          <p:cNvSpPr/>
          <p:nvPr/>
        </p:nvSpPr>
        <p:spPr>
          <a:xfrm>
            <a:off x="8728770" y="860673"/>
            <a:ext cx="43160" cy="43160"/>
          </a:xfrm>
          <a:prstGeom prst="ellipse">
            <a:avLst/>
          </a:prstGeom>
          <a:solidFill>
            <a:srgbClr val="1FB8CD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1"/>
          <p:cNvSpPr/>
          <p:nvPr/>
        </p:nvSpPr>
        <p:spPr>
          <a:xfrm>
            <a:off x="5129361" y="4044702"/>
            <a:ext cx="3642568" cy="694264"/>
          </a:xfrm>
          <a:prstGeom prst="roundRect">
            <a:avLst>
              <a:gd name="adj" fmla="val 6220"/>
            </a:avLst>
          </a:prstGeom>
          <a:gradFill rotWithShape="1">
            <a:gsLst>
              <a:gs pos="0">
                <a:srgbClr val="1FB8CD">
                  <a:alpha val="10000"/>
                </a:srgbClr>
              </a:gs>
              <a:gs pos="100000">
                <a:srgbClr val="162236">
                  <a:alpha val="95000"/>
                </a:srgbClr>
              </a:gs>
            </a:gsLst>
            <a:lin ang="2700000" scaled="1"/>
          </a:gradFill>
          <a:ln/>
        </p:spPr>
        <p:txBody>
          <a:bodyPr wrap="square" lIns="143510" tIns="86360" rIns="143510" bIns="86360" rtlCol="0" anchor="t"/>
          <a:lstStyle/>
          <a:p>
            <a:pPr algn="l" indent="0" marL="0">
              <a:buNone/>
            </a:pPr>
            <a:r>
              <a:rPr lang="en-US" sz="840" i="1" spc="8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"Agile is not just a set of practices; it is a different way of thinking about the world."</a:t>
            </a:r>
            <a:pPr algn="l" indent="0" marL="0">
              <a:buNone/>
            </a:pPr>
            <a:endParaRPr lang="en-US" sz="840" dirty="0"/>
          </a:p>
          <a:p>
            <a:pPr algn="l" indent="0" marL="0">
              <a:buNone/>
            </a:pPr>
            <a:r>
              <a:rPr lang="en-US" sz="700" b="1" spc="35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DENNING, 2018  ·  THE AGE OF AGILE</a:t>
            </a:r>
            <a:endParaRPr lang="en-US" sz="840" dirty="0"/>
          </a:p>
        </p:txBody>
      </p:sp>
      <p:sp>
        <p:nvSpPr>
          <p:cNvPr id="51" name="Text 42"/>
          <p:cNvSpPr/>
          <p:nvPr/>
        </p:nvSpPr>
        <p:spPr>
          <a:xfrm>
            <a:off x="5129361" y="4044702"/>
            <a:ext cx="28575" cy="674043"/>
          </a:xfrm>
          <a:custGeom>
            <a:avLst/>
            <a:gdLst/>
            <a:ahLst/>
            <a:cxnLst/>
            <a:rect l="l" t="t" r="r" b="b"/>
            <a:pathLst>
              <a:path w="28575" h="674043">
                <a:moveTo>
                  <a:pt x="0" y="43180"/>
                </a:moveTo>
                <a:lnTo>
                  <a:pt x="3572" y="25984"/>
                </a:lnTo>
                <a:lnTo>
                  <a:pt x="7144" y="19391"/>
                </a:lnTo>
                <a:lnTo>
                  <a:pt x="10716" y="14709"/>
                </a:lnTo>
                <a:lnTo>
                  <a:pt x="14288" y="11090"/>
                </a:lnTo>
                <a:lnTo>
                  <a:pt x="17859" y="8203"/>
                </a:lnTo>
                <a:lnTo>
                  <a:pt x="21431" y="5877"/>
                </a:lnTo>
                <a:lnTo>
                  <a:pt x="25003" y="4012"/>
                </a:lnTo>
                <a:lnTo>
                  <a:pt x="28575" y="2545"/>
                </a:lnTo>
                <a:lnTo>
                  <a:pt x="28575" y="671498"/>
                </a:lnTo>
                <a:lnTo>
                  <a:pt x="25003" y="670030"/>
                </a:lnTo>
                <a:lnTo>
                  <a:pt x="21431" y="668165"/>
                </a:lnTo>
                <a:lnTo>
                  <a:pt x="17859" y="665839"/>
                </a:lnTo>
                <a:lnTo>
                  <a:pt x="14288" y="662952"/>
                </a:lnTo>
                <a:lnTo>
                  <a:pt x="10716" y="659333"/>
                </a:lnTo>
                <a:lnTo>
                  <a:pt x="7144" y="654651"/>
                </a:lnTo>
                <a:lnTo>
                  <a:pt x="3572" y="648059"/>
                </a:lnTo>
                <a:lnTo>
                  <a:pt x="0" y="630863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5129361" y="4819055"/>
            <a:ext cx="141577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spc="32" kern="0" dirty="0">
                <a:solidFill>
                  <a:srgbClr val="7DA3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ChadaTech Technology Division</a:t>
            </a:r>
            <a:endParaRPr lang="en-US" sz="650" dirty="0"/>
          </a:p>
        </p:txBody>
      </p:sp>
      <p:sp>
        <p:nvSpPr>
          <p:cNvPr id="53" name="Text 44"/>
          <p:cNvSpPr/>
          <p:nvPr/>
        </p:nvSpPr>
        <p:spPr>
          <a:xfrm>
            <a:off x="8181529" y="4819055"/>
            <a:ext cx="64944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b="1" spc="65" kern="0" dirty="0">
                <a:solidFill>
                  <a:srgbClr val="1FB8CD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CHADATECH</a:t>
            </a:r>
            <a:endParaRPr lang="en-US" sz="650" dirty="0"/>
          </a:p>
        </p:txBody>
      </p:sp>
      <p:sp>
        <p:nvSpPr>
          <p:cNvPr id="54" name="Text 45"/>
          <p:cNvSpPr/>
          <p:nvPr/>
        </p:nvSpPr>
        <p:spPr>
          <a:xfrm>
            <a:off x="419100" y="936427"/>
            <a:ext cx="4271515" cy="595164"/>
          </a:xfrm>
          <a:prstGeom prst="roundRect">
            <a:avLst>
              <a:gd name="adj" fmla="val 7255"/>
            </a:avLst>
          </a:prstGeom>
          <a:gradFill rotWithShape="1">
            <a:gsLst>
              <a:gs pos="0">
                <a:srgbClr val="1FB8CD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6"/>
          <p:cNvSpPr/>
          <p:nvPr/>
        </p:nvSpPr>
        <p:spPr>
          <a:xfrm>
            <a:off x="419100" y="1615380"/>
            <a:ext cx="4271515" cy="444103"/>
          </a:xfrm>
          <a:prstGeom prst="roundRect">
            <a:avLst>
              <a:gd name="adj" fmla="val 9723"/>
            </a:avLst>
          </a:prstGeom>
          <a:gradFill rotWithShape="1">
            <a:gsLst>
              <a:gs pos="0">
                <a:srgbClr val="1FB8CD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7"/>
          <p:cNvSpPr/>
          <p:nvPr/>
        </p:nvSpPr>
        <p:spPr>
          <a:xfrm>
            <a:off x="419100" y="2143274"/>
            <a:ext cx="4271515" cy="595164"/>
          </a:xfrm>
          <a:prstGeom prst="roundRect">
            <a:avLst>
              <a:gd name="adj" fmla="val 7255"/>
            </a:avLst>
          </a:prstGeom>
          <a:gradFill rotWithShape="1">
            <a:gsLst>
              <a:gs pos="0">
                <a:srgbClr val="1FB8CD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8"/>
          <p:cNvSpPr/>
          <p:nvPr/>
        </p:nvSpPr>
        <p:spPr>
          <a:xfrm>
            <a:off x="419100" y="2822228"/>
            <a:ext cx="4271515" cy="444103"/>
          </a:xfrm>
          <a:prstGeom prst="roundRect">
            <a:avLst>
              <a:gd name="adj" fmla="val 9723"/>
            </a:avLst>
          </a:prstGeom>
          <a:gradFill rotWithShape="1">
            <a:gsLst>
              <a:gs pos="0">
                <a:srgbClr val="1FB8CD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9"/>
          <p:cNvSpPr/>
          <p:nvPr/>
        </p:nvSpPr>
        <p:spPr>
          <a:xfrm>
            <a:off x="419100" y="3350121"/>
            <a:ext cx="4271515" cy="595164"/>
          </a:xfrm>
          <a:prstGeom prst="roundRect">
            <a:avLst>
              <a:gd name="adj" fmla="val 7255"/>
            </a:avLst>
          </a:prstGeom>
          <a:gradFill rotWithShape="1">
            <a:gsLst>
              <a:gs pos="0">
                <a:srgbClr val="1FB8CD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FB8CD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1FB8CD"/>
              </a:gs>
              <a:gs pos="50000">
                <a:srgbClr val="0E7D8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220" y="571500"/>
            <a:ext cx="21580" cy="400050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1FB8CD"/>
              </a:gs>
              <a:gs pos="100000">
                <a:srgbClr val="1FB8CD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14530" y="1214140"/>
            <a:ext cx="2036415" cy="20364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0750" y="785515"/>
            <a:ext cx="3143250" cy="3572470"/>
          </a:xfrm>
          <a:prstGeom prst="ellipse">
            <a:avLst/>
          </a:prstGeom>
          <a:gradFill rotWithShape="1">
            <a:gsLst>
              <a:gs pos="0">
                <a:srgbClr val="1FB8CD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932337" y="1347490"/>
            <a:ext cx="21580" cy="1471460"/>
          </a:xfrm>
          <a:custGeom>
            <a:avLst/>
            <a:gdLst/>
            <a:ahLst/>
            <a:cxnLst/>
            <a:rect l="l" t="t" r="r" b="b"/>
            <a:pathLst>
              <a:path w="21580" h="1471460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451368"/>
                </a:lnTo>
                <a:lnTo>
                  <a:pt x="18883" y="1448603"/>
                </a:lnTo>
                <a:lnTo>
                  <a:pt x="16185" y="1445509"/>
                </a:lnTo>
                <a:lnTo>
                  <a:pt x="13488" y="1442012"/>
                </a:lnTo>
                <a:lnTo>
                  <a:pt x="10790" y="1438001"/>
                </a:lnTo>
                <a:lnTo>
                  <a:pt x="8093" y="1433288"/>
                </a:lnTo>
                <a:lnTo>
                  <a:pt x="5395" y="1427511"/>
                </a:lnTo>
                <a:lnTo>
                  <a:pt x="2698" y="1419742"/>
                </a:lnTo>
                <a:lnTo>
                  <a:pt x="0" y="1400340"/>
                </a:lnTo>
                <a:close/>
              </a:path>
            </a:pathLst>
          </a:custGeom>
          <a:solidFill>
            <a:srgbClr val="1FB8C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089797" y="1750397"/>
            <a:ext cx="35421" cy="35421"/>
          </a:xfrm>
          <a:prstGeom prst="ellipse">
            <a:avLst/>
          </a:prstGeom>
          <a:solidFill>
            <a:srgbClr val="1FB8CD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089797" y="2080796"/>
            <a:ext cx="35421" cy="35421"/>
          </a:xfrm>
          <a:prstGeom prst="ellipse">
            <a:avLst/>
          </a:prstGeom>
          <a:solidFill>
            <a:srgbClr val="1FB8CD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85341" y="954732"/>
            <a:ext cx="312786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1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REMARKS</a:t>
            </a:r>
            <a:endParaRPr lang="en-US" sz="560" dirty="0"/>
          </a:p>
        </p:txBody>
      </p:sp>
      <p:sp>
        <p:nvSpPr>
          <p:cNvPr id="11" name="Text 8"/>
          <p:cNvSpPr/>
          <p:nvPr/>
        </p:nvSpPr>
        <p:spPr>
          <a:xfrm>
            <a:off x="585341" y="1090613"/>
            <a:ext cx="298568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spc="-6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</a:t>
            </a:r>
            <a:pPr algn="l" indent="0" marL="0">
              <a:lnSpc>
                <a:spcPts val="4050"/>
              </a:lnSpc>
              <a:buNone/>
            </a:pPr>
            <a:r>
              <a:rPr lang="en-US" sz="4050" spc="-60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</a:t>
            </a:r>
            <a:endParaRPr lang="en-US" sz="4050" dirty="0"/>
          </a:p>
        </p:txBody>
      </p:sp>
      <p:sp>
        <p:nvSpPr>
          <p:cNvPr id="12" name="Text 9"/>
          <p:cNvSpPr/>
          <p:nvPr/>
        </p:nvSpPr>
        <p:spPr>
          <a:xfrm>
            <a:off x="585341" y="1648123"/>
            <a:ext cx="3127861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spc="30" kern="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585341" y="2027783"/>
            <a:ext cx="2843510" cy="434280"/>
          </a:xfrm>
          <a:prstGeom prst="roundRect">
            <a:avLst>
              <a:gd name="adj" fmla="val 164643"/>
            </a:avLst>
          </a:prstGeom>
          <a:solidFill>
            <a:srgbClr val="1FB8CD">
              <a:alpha val="12000"/>
            </a:srgbClr>
          </a:solidFill>
          <a:ln w="9525">
            <a:solidFill>
              <a:srgbClr val="1FB8CD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203" y="2153127"/>
            <a:ext cx="132588" cy="1834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3650" y="2094458"/>
            <a:ext cx="1101191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 Technology Division</a:t>
            </a:r>
            <a:endParaRPr lang="en-US" sz="790" dirty="0"/>
          </a:p>
        </p:txBody>
      </p:sp>
      <p:sp>
        <p:nvSpPr>
          <p:cNvPr id="16" name="Text 12"/>
          <p:cNvSpPr/>
          <p:nvPr/>
        </p:nvSpPr>
        <p:spPr>
          <a:xfrm>
            <a:off x="2014240" y="2194768"/>
            <a:ext cx="5507" cy="100310"/>
          </a:xfrm>
          <a:prstGeom prst="rect">
            <a:avLst/>
          </a:prstGeom>
          <a:solidFill>
            <a:srgbClr val="1FB8CD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090738" y="2094458"/>
            <a:ext cx="1208821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Executive Leadership</a:t>
            </a:r>
            <a:endParaRPr lang="en-US" sz="790" dirty="0"/>
          </a:p>
        </p:txBody>
      </p:sp>
      <p:sp>
        <p:nvSpPr>
          <p:cNvPr id="18" name="Text 14"/>
          <p:cNvSpPr/>
          <p:nvPr/>
        </p:nvSpPr>
        <p:spPr>
          <a:xfrm>
            <a:off x="585341" y="2662684"/>
            <a:ext cx="312786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1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TOPICS</a:t>
            </a:r>
            <a:endParaRPr lang="en-US" sz="560" dirty="0"/>
          </a:p>
        </p:txBody>
      </p:sp>
      <p:sp>
        <p:nvSpPr>
          <p:cNvPr id="19" name="Text 15"/>
          <p:cNvSpPr/>
          <p:nvPr/>
        </p:nvSpPr>
        <p:spPr>
          <a:xfrm>
            <a:off x="585341" y="2840385"/>
            <a:ext cx="2843510" cy="411361"/>
          </a:xfrm>
          <a:prstGeom prst="roundRect">
            <a:avLst>
              <a:gd name="adj" fmla="val 13893"/>
            </a:avLst>
          </a:prstGeom>
          <a:solidFill>
            <a:srgbClr val="162236"/>
          </a:solidFill>
          <a:ln w="9525">
            <a:solidFill>
              <a:srgbClr val="1FB8CD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95176" y="2928491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1FB8CD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118" y="2962433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6788" y="2920901"/>
            <a:ext cx="220371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</a:t>
            </a:r>
            <a:endParaRPr lang="en-US" sz="560" dirty="0"/>
          </a:p>
        </p:txBody>
      </p:sp>
      <p:sp>
        <p:nvSpPr>
          <p:cNvPr id="23" name="Text 18"/>
          <p:cNvSpPr/>
          <p:nvPr/>
        </p:nvSpPr>
        <p:spPr>
          <a:xfrm>
            <a:off x="966788" y="3041452"/>
            <a:ext cx="220371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and staff a ChadaTech Scrum Team</a:t>
            </a:r>
            <a:endParaRPr lang="en-US" sz="730" dirty="0"/>
          </a:p>
        </p:txBody>
      </p:sp>
      <p:sp>
        <p:nvSpPr>
          <p:cNvPr id="24" name="Text 19"/>
          <p:cNvSpPr/>
          <p:nvPr/>
        </p:nvSpPr>
        <p:spPr>
          <a:xfrm>
            <a:off x="585341" y="3308896"/>
            <a:ext cx="2843510" cy="411361"/>
          </a:xfrm>
          <a:prstGeom prst="roundRect">
            <a:avLst>
              <a:gd name="adj" fmla="val 13893"/>
            </a:avLst>
          </a:prstGeom>
          <a:solidFill>
            <a:srgbClr val="162236"/>
          </a:solidFill>
          <a:ln w="9525">
            <a:solidFill>
              <a:srgbClr val="1FB8CD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95176" y="3397002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1FB8CD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9118" y="3430944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6788" y="3389412"/>
            <a:ext cx="218259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560" dirty="0"/>
          </a:p>
        </p:txBody>
      </p:sp>
      <p:sp>
        <p:nvSpPr>
          <p:cNvPr id="28" name="Text 22"/>
          <p:cNvSpPr/>
          <p:nvPr/>
        </p:nvSpPr>
        <p:spPr>
          <a:xfrm>
            <a:off x="966788" y="3509963"/>
            <a:ext cx="2182594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cost of moving from Waterfall to Agile</a:t>
            </a:r>
            <a:endParaRPr lang="en-US" sz="730" dirty="0"/>
          </a:p>
        </p:txBody>
      </p:sp>
      <p:sp>
        <p:nvSpPr>
          <p:cNvPr id="29" name="Text 23"/>
          <p:cNvSpPr/>
          <p:nvPr/>
        </p:nvSpPr>
        <p:spPr>
          <a:xfrm>
            <a:off x="585341" y="3777407"/>
            <a:ext cx="2843510" cy="411361"/>
          </a:xfrm>
          <a:prstGeom prst="roundRect">
            <a:avLst>
              <a:gd name="adj" fmla="val 13893"/>
            </a:avLst>
          </a:prstGeom>
          <a:solidFill>
            <a:srgbClr val="162236"/>
          </a:solidFill>
          <a:ln w="9525">
            <a:solidFill>
              <a:srgbClr val="1FB8CD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95176" y="386551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1FB8CD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9118" y="3899455"/>
            <a:ext cx="132588" cy="1325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6788" y="3857923"/>
            <a:ext cx="218488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PROJECT</a:t>
            </a:r>
            <a:endParaRPr lang="en-US" sz="560" dirty="0"/>
          </a:p>
        </p:txBody>
      </p:sp>
      <p:sp>
        <p:nvSpPr>
          <p:cNvPr id="33" name="Text 26"/>
          <p:cNvSpPr/>
          <p:nvPr/>
        </p:nvSpPr>
        <p:spPr>
          <a:xfrm>
            <a:off x="966788" y="3978473"/>
            <a:ext cx="2184886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first Agile pilot project at ChadaTech</a:t>
            </a:r>
            <a:endParaRPr lang="en-US" sz="730" dirty="0"/>
          </a:p>
        </p:txBody>
      </p:sp>
      <p:sp>
        <p:nvSpPr>
          <p:cNvPr id="34" name="Text 27"/>
          <p:cNvSpPr/>
          <p:nvPr/>
        </p:nvSpPr>
        <p:spPr>
          <a:xfrm>
            <a:off x="3657451" y="429220"/>
            <a:ext cx="7590" cy="428505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FB8CD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3922812" y="1337965"/>
            <a:ext cx="4677668" cy="1490514"/>
          </a:xfrm>
          <a:prstGeom prst="roundRect">
            <a:avLst>
              <a:gd name="adj" fmla="val 4772"/>
            </a:avLst>
          </a:prstGeom>
          <a:solidFill>
            <a:srgbClr val="1C2E45"/>
          </a:solidFill>
          <a:ln w="9525">
            <a:solidFill>
              <a:srgbClr val="1FB8CD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4089797" y="1475631"/>
            <a:ext cx="477806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80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REFERENCES</a:t>
            </a:r>
            <a:endParaRPr lang="en-US" sz="730" dirty="0"/>
          </a:p>
        </p:txBody>
      </p:sp>
      <p:sp>
        <p:nvSpPr>
          <p:cNvPr id="37" name="Text 30"/>
          <p:cNvSpPr/>
          <p:nvPr/>
        </p:nvSpPr>
        <p:spPr>
          <a:xfrm>
            <a:off x="4089797" y="1685627"/>
            <a:ext cx="4430572" cy="301600"/>
          </a:xfrm>
          <a:prstGeom prst="rect">
            <a:avLst/>
          </a:prstGeom>
          <a:noFill/>
          <a:ln/>
        </p:spPr>
        <p:txBody>
          <a:bodyPr wrap="square" lIns="100330" tIns="0" rIns="0" bIns="0" rtlCol="0" anchor="t"/>
          <a:lstStyle/>
          <a:p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Denning, S. (2018). </a:t>
            </a:r>
            <a:pPr algn="l" indent="0" marL="0">
              <a:lnSpc>
                <a:spcPts val="1132"/>
              </a:lnSpc>
              <a:buNone/>
            </a:pPr>
            <a:r>
              <a:rPr lang="en-US" sz="73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 of Agile: How smart companies are transforming the way work gets done.</a:t>
            </a:r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AMACOM.</a:t>
            </a:r>
            <a:endParaRPr lang="en-US" sz="730" dirty="0"/>
          </a:p>
        </p:txBody>
      </p:sp>
      <p:sp>
        <p:nvSpPr>
          <p:cNvPr id="38" name="Text 31"/>
          <p:cNvSpPr/>
          <p:nvPr/>
        </p:nvSpPr>
        <p:spPr>
          <a:xfrm>
            <a:off x="4089797" y="2016026"/>
            <a:ext cx="4430572" cy="301600"/>
          </a:xfrm>
          <a:prstGeom prst="rect">
            <a:avLst/>
          </a:prstGeom>
          <a:noFill/>
          <a:ln/>
        </p:spPr>
        <p:txBody>
          <a:bodyPr wrap="square" lIns="100330" tIns="0" rIns="0" bIns="0" rtlCol="0" anchor="t"/>
          <a:lstStyle/>
          <a:p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Schwaber, K., &amp; Sutherland, J. (2020). </a:t>
            </a:r>
            <a:pPr algn="l" indent="0" marL="0">
              <a:lnSpc>
                <a:spcPts val="1132"/>
              </a:lnSpc>
              <a:buNone/>
            </a:pPr>
            <a:r>
              <a:rPr lang="en-US" sz="73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guide: The definitive guide to Scrum — The rules of the game.</a:t>
            </a:r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Scrum.org. https://scrumguides.org</a:t>
            </a:r>
            <a:endParaRPr lang="en-US" sz="730" dirty="0"/>
          </a:p>
        </p:txBody>
      </p:sp>
      <p:sp>
        <p:nvSpPr>
          <p:cNvPr id="39" name="Text 32"/>
          <p:cNvSpPr/>
          <p:nvPr/>
        </p:nvSpPr>
        <p:spPr>
          <a:xfrm>
            <a:off x="4089797" y="2374255"/>
            <a:ext cx="4343698" cy="326054"/>
          </a:xfrm>
          <a:prstGeom prst="rect">
            <a:avLst/>
          </a:prstGeom>
          <a:noFill/>
          <a:ln/>
        </p:spPr>
        <p:txBody>
          <a:bodyPr wrap="none" lIns="0" tIns="71120" rIns="0" bIns="0" rtlCol="0" anchor="t"/>
          <a:lstStyle/>
          <a:p>
            <a:pPr algn="l" indent="0" marL="0">
              <a:buNone/>
            </a:pPr>
            <a:r>
              <a:rPr lang="en-US" sz="62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Scrum role definitions and event timeboxes are sourced directly from the 2020 Scrum Guide (Schwaber &amp; Sutherland, 2020).</a:t>
            </a:r>
            <a:endParaRPr lang="en-US" sz="620" dirty="0"/>
          </a:p>
          <a:p>
            <a:pPr algn="l" indent="0" marL="0">
              <a:buNone/>
            </a:pPr>
            <a:r>
              <a:rPr lang="en-US" sz="62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Age of Agile leadership philosophy references are sourced from Denning (2018).</a:t>
            </a:r>
            <a:endParaRPr lang="en-US" sz="620" dirty="0"/>
          </a:p>
        </p:txBody>
      </p:sp>
      <p:sp>
        <p:nvSpPr>
          <p:cNvPr id="40" name="Text 33"/>
          <p:cNvSpPr/>
          <p:nvPr/>
        </p:nvSpPr>
        <p:spPr>
          <a:xfrm>
            <a:off x="4089797" y="2374255"/>
            <a:ext cx="4343698" cy="9525"/>
          </a:xfrm>
          <a:prstGeom prst="rect">
            <a:avLst/>
          </a:prstGeom>
          <a:solidFill>
            <a:srgbClr val="1FB8CD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3922812" y="2971949"/>
            <a:ext cx="1511796" cy="474595"/>
          </a:xfrm>
          <a:prstGeom prst="roundRect">
            <a:avLst>
              <a:gd name="adj" fmla="val 12042"/>
            </a:avLst>
          </a:prstGeom>
          <a:solidFill>
            <a:srgbClr val="162236"/>
          </a:solidFill>
          <a:ln w="9525">
            <a:solidFill>
              <a:srgbClr val="1FB8CD">
                <a:alpha val="13000"/>
              </a:srgbClr>
            </a:solidFill>
          </a:ln>
        </p:spPr>
        <p:txBody>
          <a:bodyPr wrap="square" lIns="100330" tIns="86360" rIns="100330" bIns="86360" rtlCol="0" anchor="t"/>
          <a:lstStyle/>
          <a:p>
            <a:pPr algn="ctr" indent="0" marL="0">
              <a:buNone/>
            </a:pPr>
            <a:r>
              <a:rPr lang="en-US" sz="620" b="1" spc="6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VALUE</a:t>
            </a:r>
            <a:pPr algn="ctr" indent="0" marL="0">
              <a:buNone/>
            </a:pPr>
            <a:endParaRPr lang="en-US" sz="62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Sprint, every cycle</a:t>
            </a:r>
            <a:endParaRPr lang="en-US" sz="620" dirty="0"/>
          </a:p>
        </p:txBody>
      </p:sp>
      <p:sp>
        <p:nvSpPr>
          <p:cNvPr id="42" name="Text 35"/>
          <p:cNvSpPr/>
          <p:nvPr/>
        </p:nvSpPr>
        <p:spPr>
          <a:xfrm>
            <a:off x="5505599" y="2971949"/>
            <a:ext cx="1511945" cy="474595"/>
          </a:xfrm>
          <a:prstGeom prst="roundRect">
            <a:avLst>
              <a:gd name="adj" fmla="val 12042"/>
            </a:avLst>
          </a:prstGeom>
          <a:solidFill>
            <a:srgbClr val="162236"/>
          </a:solidFill>
          <a:ln w="9525">
            <a:solidFill>
              <a:srgbClr val="1FB8CD">
                <a:alpha val="13000"/>
              </a:srgbClr>
            </a:solidFill>
          </a:ln>
        </p:spPr>
        <p:txBody>
          <a:bodyPr wrap="square" lIns="100330" tIns="86360" rIns="100330" bIns="86360" rtlCol="0" anchor="t"/>
          <a:lstStyle/>
          <a:p>
            <a:pPr algn="ctr" indent="0" marL="0">
              <a:buNone/>
            </a:pPr>
            <a:r>
              <a:rPr lang="en-US" sz="620" b="1" spc="6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EMBRACE CHANGE</a:t>
            </a:r>
            <a:pPr algn="ctr" indent="0" marL="0">
              <a:buNone/>
            </a:pPr>
            <a:endParaRPr lang="en-US" sz="62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with confidence</a:t>
            </a:r>
            <a:endParaRPr lang="en-US" sz="620" dirty="0"/>
          </a:p>
        </p:txBody>
      </p:sp>
      <p:sp>
        <p:nvSpPr>
          <p:cNvPr id="43" name="Text 36"/>
          <p:cNvSpPr/>
          <p:nvPr/>
        </p:nvSpPr>
        <p:spPr>
          <a:xfrm>
            <a:off x="7088535" y="2971949"/>
            <a:ext cx="1511945" cy="474595"/>
          </a:xfrm>
          <a:prstGeom prst="roundRect">
            <a:avLst>
              <a:gd name="adj" fmla="val 12042"/>
            </a:avLst>
          </a:prstGeom>
          <a:solidFill>
            <a:srgbClr val="162236"/>
          </a:solidFill>
          <a:ln w="9525">
            <a:solidFill>
              <a:srgbClr val="1FB8CD">
                <a:alpha val="13000"/>
              </a:srgbClr>
            </a:solidFill>
          </a:ln>
        </p:spPr>
        <p:txBody>
          <a:bodyPr wrap="square" lIns="100330" tIns="86360" rIns="100330" bIns="86360" rtlCol="0" anchor="t"/>
          <a:lstStyle/>
          <a:p>
            <a:pPr algn="ctr" indent="0" marL="0">
              <a:buNone/>
            </a:pPr>
            <a:r>
              <a:rPr lang="en-US" sz="620" b="1" spc="60" kern="0" dirty="0">
                <a:solidFill>
                  <a:srgbClr val="1FB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TEAMS</a:t>
            </a:r>
            <a:pPr algn="ctr" indent="0" marL="0">
              <a:buNone/>
            </a:pPr>
            <a:endParaRPr lang="en-US" sz="62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Self-managing &amp; accountable</a:t>
            </a:r>
            <a:endParaRPr lang="en-US" sz="620" dirty="0"/>
          </a:p>
        </p:txBody>
      </p:sp>
      <p:sp>
        <p:nvSpPr>
          <p:cNvPr id="44" name="Text 37"/>
          <p:cNvSpPr/>
          <p:nvPr/>
        </p:nvSpPr>
        <p:spPr>
          <a:xfrm>
            <a:off x="3922812" y="3590181"/>
            <a:ext cx="91350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spc="60" kern="0" dirty="0">
                <a:solidFill>
                  <a:srgbClr val="1FB8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ChadaTech</a:t>
            </a:r>
            <a:endParaRPr lang="en-US" sz="113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9629" y="3631415"/>
            <a:ext cx="132588" cy="13258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930652" y="3633043"/>
            <a:ext cx="293681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7D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 Technology Division  |  Executive Leadership Presentation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2026-06-21T11:56:30Z</dcterms:created>
  <dcterms:modified xsi:type="dcterms:W3CDTF">2026-06-21T11:56:30Z</dcterms:modified>
</cp:coreProperties>
</file>